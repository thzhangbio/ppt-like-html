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5569a4599f499e" /><Relationship Type="http://schemas.openxmlformats.org/officeDocument/2006/relationships/extended-properties" Target="/docProps/app.xml" Id="R146ec0d23d4c4de8" /><Relationship Type="http://schemas.openxmlformats.org/officeDocument/2006/relationships/officeDocument" Target="/ppt/presentation.xml" Id="R1d0cc0c9ee9b45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d410a7501849ac"/>
  </p:sldMasterIdLst>
  <p:notesMasterIdLst>
    <p:notesMasterId xmlns:r="http://schemas.openxmlformats.org/officeDocument/2006/relationships" r:id="R03340f4daffd4acc"/>
  </p:notesMasterIdLst>
  <p:sldIdLst>
    <p:sldId xmlns:r="http://schemas.openxmlformats.org/officeDocument/2006/relationships" id="256" r:id="R1e85496d5ff441b8"/>
    <p:sldId xmlns:r="http://schemas.openxmlformats.org/officeDocument/2006/relationships" id="257" r:id="R781f7f78e0a84f0f"/>
    <p:sldId xmlns:r="http://schemas.openxmlformats.org/officeDocument/2006/relationships" id="258" r:id="Ra7b8bea86c5547f5"/>
    <p:sldId xmlns:r="http://schemas.openxmlformats.org/officeDocument/2006/relationships" id="259" r:id="R26482471cdfe446c"/>
    <p:sldId xmlns:r="http://schemas.openxmlformats.org/officeDocument/2006/relationships" id="260" r:id="Rdfb648d77bb14e24"/>
    <p:sldId xmlns:r="http://schemas.openxmlformats.org/officeDocument/2006/relationships" id="261" r:id="R6790ed19f68b4bd8"/>
    <p:sldId xmlns:r="http://schemas.openxmlformats.org/officeDocument/2006/relationships" id="262" r:id="R7e7f745f922b4f45"/>
    <p:sldId xmlns:r="http://schemas.openxmlformats.org/officeDocument/2006/relationships" id="263" r:id="R364bee78a0fa40d9"/>
    <p:sldId xmlns:r="http://schemas.openxmlformats.org/officeDocument/2006/relationships" id="264" r:id="R15048300973248e7"/>
    <p:sldId xmlns:r="http://schemas.openxmlformats.org/officeDocument/2006/relationships" id="265" r:id="R28a60dc5cdc54c03"/>
    <p:sldId xmlns:r="http://schemas.openxmlformats.org/officeDocument/2006/relationships" id="266" r:id="R6ab716d49ccd4c62"/>
    <p:sldId xmlns:r="http://schemas.openxmlformats.org/officeDocument/2006/relationships" id="267" r:id="R19665ff914914147"/>
    <p:sldId xmlns:r="http://schemas.openxmlformats.org/officeDocument/2006/relationships" id="268" r:id="Rec6a0ce515c1489a"/>
    <p:sldId xmlns:r="http://schemas.openxmlformats.org/officeDocument/2006/relationships" id="269" r:id="R114045a574ad4980"/>
    <p:sldId xmlns:r="http://schemas.openxmlformats.org/officeDocument/2006/relationships" id="270" r:id="R6b20aed6045043d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e1ab6088c54362" /><Relationship Type="http://schemas.openxmlformats.org/officeDocument/2006/relationships/slideMaster" Target="/ppt/slideMasters/slideMaster1.xml" Id="R98d410a7501849ac" /><Relationship Type="http://schemas.openxmlformats.org/officeDocument/2006/relationships/notesMaster" Target="/ppt/notesMasters/notesMaster1.xml" Id="R03340f4daffd4acc" /><Relationship Type="http://schemas.openxmlformats.org/officeDocument/2006/relationships/presProps" Target="/ppt/presProps.xml" Id="R793e85147bb94745" /><Relationship Type="http://schemas.openxmlformats.org/officeDocument/2006/relationships/tableStyles" Target="/ppt/tableStyles.xml" Id="Rafd8c722ab474911" /><Relationship Type="http://schemas.openxmlformats.org/officeDocument/2006/relationships/slide" Target="/ppt/slides/slide1.xml" Id="R1e85496d5ff441b8" /><Relationship Type="http://schemas.openxmlformats.org/officeDocument/2006/relationships/slide" Target="/ppt/slides/slide2.xml" Id="R781f7f78e0a84f0f" /><Relationship Type="http://schemas.openxmlformats.org/officeDocument/2006/relationships/slide" Target="/ppt/slides/slide3.xml" Id="Ra7b8bea86c5547f5" /><Relationship Type="http://schemas.openxmlformats.org/officeDocument/2006/relationships/slide" Target="/ppt/slides/slide4.xml" Id="R26482471cdfe446c" /><Relationship Type="http://schemas.openxmlformats.org/officeDocument/2006/relationships/slide" Target="/ppt/slides/slide5.xml" Id="Rdfb648d77bb14e24" /><Relationship Type="http://schemas.openxmlformats.org/officeDocument/2006/relationships/slide" Target="/ppt/slides/slide6.xml" Id="R6790ed19f68b4bd8" /><Relationship Type="http://schemas.openxmlformats.org/officeDocument/2006/relationships/slide" Target="/ppt/slides/slide7.xml" Id="R7e7f745f922b4f45" /><Relationship Type="http://schemas.openxmlformats.org/officeDocument/2006/relationships/slide" Target="/ppt/slides/slide8.xml" Id="R364bee78a0fa40d9" /><Relationship Type="http://schemas.openxmlformats.org/officeDocument/2006/relationships/slide" Target="/ppt/slides/slide9.xml" Id="R15048300973248e7" /><Relationship Type="http://schemas.openxmlformats.org/officeDocument/2006/relationships/slide" Target="/ppt/slides/slide10.xml" Id="R28a60dc5cdc54c03" /><Relationship Type="http://schemas.openxmlformats.org/officeDocument/2006/relationships/slide" Target="/ppt/slides/slide11.xml" Id="R6ab716d49ccd4c62" /><Relationship Type="http://schemas.openxmlformats.org/officeDocument/2006/relationships/slide" Target="/ppt/slides/slide12.xml" Id="R19665ff914914147" /><Relationship Type="http://schemas.openxmlformats.org/officeDocument/2006/relationships/slide" Target="/ppt/slides/slide13.xml" Id="Rec6a0ce515c1489a" /><Relationship Type="http://schemas.openxmlformats.org/officeDocument/2006/relationships/slide" Target="/ppt/slides/slide14.xml" Id="R114045a574ad4980" /><Relationship Type="http://schemas.openxmlformats.org/officeDocument/2006/relationships/slide" Target="/ppt/slides/slide15.xml" Id="R6b20aed6045043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5097177dab4f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ab6c3e990c4854" /><Relationship Type="http://schemas.openxmlformats.org/officeDocument/2006/relationships/notesMaster" Target="/ppt/notesMasters/notesMaster1.xml" Id="Rfecd5a6c3b7a41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44e3b0a680436b" /><Relationship Type="http://schemas.openxmlformats.org/officeDocument/2006/relationships/notesMaster" Target="/ppt/notesMasters/notesMaster1.xml" Id="Rf79913b76f694f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f517424f984c87" /><Relationship Type="http://schemas.openxmlformats.org/officeDocument/2006/relationships/notesMaster" Target="/ppt/notesMasters/notesMaster1.xml" Id="R4fd4da22952347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c87cc4fc764b11" /><Relationship Type="http://schemas.openxmlformats.org/officeDocument/2006/relationships/notesMaster" Target="/ppt/notesMasters/notesMaster1.xml" Id="R7424a13eb99141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7010527a9c485c" /><Relationship Type="http://schemas.openxmlformats.org/officeDocument/2006/relationships/notesMaster" Target="/ppt/notesMasters/notesMaster1.xml" Id="R4b2c630e3bd748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1086b8e0ff4ef7" /><Relationship Type="http://schemas.openxmlformats.org/officeDocument/2006/relationships/notesMaster" Target="/ppt/notesMasters/notesMaster1.xml" Id="R2e5a23c77de548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c58210fb31481d" /><Relationship Type="http://schemas.openxmlformats.org/officeDocument/2006/relationships/notesMaster" Target="/ppt/notesMasters/notesMaster1.xml" Id="R7c107c85f48443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15fd620e624406" /><Relationship Type="http://schemas.openxmlformats.org/officeDocument/2006/relationships/notesMaster" Target="/ppt/notesMasters/notesMaster1.xml" Id="Rd90e131d1a654e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eb9f20e2444999" /><Relationship Type="http://schemas.openxmlformats.org/officeDocument/2006/relationships/notesMaster" Target="/ppt/notesMasters/notesMaster1.xml" Id="R3a8624750c0846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89e8fe9b0d4548" /><Relationship Type="http://schemas.openxmlformats.org/officeDocument/2006/relationships/notesMaster" Target="/ppt/notesMasters/notesMaster1.xml" Id="Re0ade0f5d80f4c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f83289efbb54456" /><Relationship Type="http://schemas.openxmlformats.org/officeDocument/2006/relationships/notesMaster" Target="/ppt/notesMasters/notesMaster1.xml" Id="R298521ce17f6457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e134c297e74811" /><Relationship Type="http://schemas.openxmlformats.org/officeDocument/2006/relationships/notesMaster" Target="/ppt/notesMasters/notesMaster1.xml" Id="R8f53115b3973421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d6652c5902b491b" /><Relationship Type="http://schemas.openxmlformats.org/officeDocument/2006/relationships/notesMaster" Target="/ppt/notesMasters/notesMaster1.xml" Id="Rebc3f7d312d24b3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380844614364c62" /><Relationship Type="http://schemas.openxmlformats.org/officeDocument/2006/relationships/notesMaster" Target="/ppt/notesMasters/notesMaster1.xml" Id="Re84fbcb21d3844a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c27da7a8e034084" /><Relationship Type="http://schemas.openxmlformats.org/officeDocument/2006/relationships/notesMaster" Target="/ppt/notesMasters/notesMaster1.xml" Id="R8b431899a0ca40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6f0815e9a140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f4754255e2441c" /><Relationship Type="http://schemas.openxmlformats.org/officeDocument/2006/relationships/slideLayout" Target="/ppt/slideLayouts/slideLayout1.xml" Id="R5af1e4885cc346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f1e4885cc346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e89be235d4b23" /><Relationship Type="http://schemas.openxmlformats.org/officeDocument/2006/relationships/image" Target="/ppt/media/image.png" Id="R9972746b586640b7" /><Relationship Type="http://schemas.openxmlformats.org/officeDocument/2006/relationships/image" Target="/ppt/media/image2.png" Id="Rfa7d8d6ddbcc4201" /><Relationship Type="http://schemas.openxmlformats.org/officeDocument/2006/relationships/notesSlide" Target="/ppt/notesSlides/notesSlide1.xml" Id="R0ef2352cbe214f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382484c0c74e5a" /><Relationship Type="http://schemas.openxmlformats.org/officeDocument/2006/relationships/image" Target="/ppt/media/image3.png" Id="R6f3ee65655024b15" /><Relationship Type="http://schemas.openxmlformats.org/officeDocument/2006/relationships/notesSlide" Target="/ppt/notesSlides/notesSlide2.xml" Id="R27e804c26b5c4a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e690ccbb84a9b" /><Relationship Type="http://schemas.openxmlformats.org/officeDocument/2006/relationships/image" Target="/ppt/media/image4.png" Id="Rabd7de32362b4827" /><Relationship Type="http://schemas.openxmlformats.org/officeDocument/2006/relationships/notesSlide" Target="/ppt/notesSlides/notesSlide3.xml" Id="R448c0f85136946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e4e4fd30e420e" /><Relationship Type="http://schemas.openxmlformats.org/officeDocument/2006/relationships/image" Target="/ppt/media/image5.png" Id="Rc854fa28b3f74590" /><Relationship Type="http://schemas.openxmlformats.org/officeDocument/2006/relationships/notesSlide" Target="/ppt/notesSlides/notesSlide4.xml" Id="Rd0084a72253040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db7aee60f4e62" /><Relationship Type="http://schemas.openxmlformats.org/officeDocument/2006/relationships/image" Target="/ppt/media/image6.png" Id="R9144fca159e64e81" /><Relationship Type="http://schemas.openxmlformats.org/officeDocument/2006/relationships/notesSlide" Target="/ppt/notesSlides/notesSlide5.xml" Id="R86caa5d0a69548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679a3fe844d7a" /><Relationship Type="http://schemas.openxmlformats.org/officeDocument/2006/relationships/image" Target="/ppt/media/image7.png" Id="Rcff4e42550f843fb" /><Relationship Type="http://schemas.openxmlformats.org/officeDocument/2006/relationships/notesSlide" Target="/ppt/notesSlides/notesSlide6.xml" Id="R6ba59d78df0b40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cdff3c16b4f18" /><Relationship Type="http://schemas.openxmlformats.org/officeDocument/2006/relationships/image" Target="/ppt/media/image8.png" Id="R36d31c1429824e2d" /><Relationship Type="http://schemas.openxmlformats.org/officeDocument/2006/relationships/notesSlide" Target="/ppt/notesSlides/notesSlide7.xml" Id="Rcc60261f0c1948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724fe8e154cf8" /><Relationship Type="http://schemas.openxmlformats.org/officeDocument/2006/relationships/image" Target="/ppt/media/image9.png" Id="R87e7a0ffc4ef4f1c" /><Relationship Type="http://schemas.openxmlformats.org/officeDocument/2006/relationships/notesSlide" Target="/ppt/notesSlides/notesSlide8.xml" Id="Rff5f23e88c9d46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7f1ef4de7840df" /><Relationship Type="http://schemas.openxmlformats.org/officeDocument/2006/relationships/image" Target="/ppt/media/image10.png" Id="Rc61864d841c84c1e" /><Relationship Type="http://schemas.openxmlformats.org/officeDocument/2006/relationships/notesSlide" Target="/ppt/notesSlides/notesSlide9.xml" Id="R89b62405a87048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df8908488405d" /><Relationship Type="http://schemas.openxmlformats.org/officeDocument/2006/relationships/image" Target="/ppt/media/image11.png" Id="R6eff2c3acac44847" /><Relationship Type="http://schemas.openxmlformats.org/officeDocument/2006/relationships/notesSlide" Target="/ppt/notesSlides/notesSlide10.xml" Id="R84e6b51e90c1432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3528608064358" /><Relationship Type="http://schemas.openxmlformats.org/officeDocument/2006/relationships/image" Target="/ppt/media/image12.png" Id="Rca63f92f3a82425f" /><Relationship Type="http://schemas.openxmlformats.org/officeDocument/2006/relationships/notesSlide" Target="/ppt/notesSlides/notesSlide11.xml" Id="Rb204964346a14a1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2a74b8b324ecc" /><Relationship Type="http://schemas.openxmlformats.org/officeDocument/2006/relationships/image" Target="/ppt/media/image13.png" Id="Rb479f37f4f2c4b2a" /><Relationship Type="http://schemas.openxmlformats.org/officeDocument/2006/relationships/notesSlide" Target="/ppt/notesSlides/notesSlide12.xml" Id="Re4dddc3398084bc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5a2928ae74bec" /><Relationship Type="http://schemas.openxmlformats.org/officeDocument/2006/relationships/image" Target="/ppt/media/image14.png" Id="Rbec730dbad264c57" /><Relationship Type="http://schemas.openxmlformats.org/officeDocument/2006/relationships/notesSlide" Target="/ppt/notesSlides/notesSlide13.xml" Id="R573f4070e6a8427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3cdc04fc334604" /><Relationship Type="http://schemas.openxmlformats.org/officeDocument/2006/relationships/image" Target="/ppt/media/image15.png" Id="R26f830b7df854639" /><Relationship Type="http://schemas.openxmlformats.org/officeDocument/2006/relationships/notesSlide" Target="/ppt/notesSlides/notesSlide14.xml" Id="Rb54e05de062b46c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72e725723413e" /><Relationship Type="http://schemas.openxmlformats.org/officeDocument/2006/relationships/image" Target="/ppt/media/image16.png" Id="R427b869878204e29" /><Relationship Type="http://schemas.openxmlformats.org/officeDocument/2006/relationships/image" Target="/ppt/media/image17.png" Id="R8c1c983e128446e5" /><Relationship Type="http://schemas.openxmlformats.org/officeDocument/2006/relationships/notesSlide" Target="/ppt/notesSlides/notesSlide15.xml" Id="Rd9ed8c1aed454f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EA3980-F46A-49F1-8F66-2786C56F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A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72746b586640b7"/>
          <a:stretch xmlns:a="http://schemas.openxmlformats.org/drawingml/2006/main"/>
        </p:blipFill>
        <p:spPr>
          <a:xfrm xmlns:a="http://schemas.openxmlformats.org/drawingml/2006/main">
            <a:off x="495300" y="3238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CC547-B763-42D7-A39E-48F35357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B2371"/>
                </a:solidFill>
              </a:defRPr>
            </a:pPr>
            <a:r>
              <a:rPr sz="900" b="1">
                <a:solidFill>
                  <a:srgbClr val="3B2371"/>
                </a:solidFill>
              </a:rPr>
              <a:t>VIVOID 三体生物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EFFBD-3498-4812-8DCD-742A420A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0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0"/>
                </a:solidFill>
              </a:defRPr>
            </a:pPr>
            <a:r>
              <a:rPr sz="900" b="0">
                <a:solidFill>
                  <a:srgbClr val="5B6470"/>
                </a:solidFill>
              </a:rPr>
              <a:t>01 / COVER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A77AF-8402-486A-9521-CE1E01AB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16200-C91F-495D-AE18-88531477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FB49D-1B71-476C-BE54-5C6CF3EA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</a:defRPr>
            </a:pPr>
            <a:r>
              <a:rPr sz="825" b="0">
                <a:solidFill>
                  <a:srgbClr val="5B6470"/>
                </a:solidFill>
              </a:rPr>
              <a:t>汇报人 / 技术应用科学家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E6821-3AD2-4234-A58D-B6C58BDC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470"/>
                </a:solidFill>
              </a:defRPr>
            </a:pPr>
            <a:r>
              <a:rPr sz="825" b="0">
                <a:solidFill>
                  <a:srgbClr val="5B6470"/>
                </a:solidFill>
              </a:rPr>
              <a:t>CONFIDENTIAL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66290-EF40-4AD0-8E2E-DFD1812D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2371"/>
                </a:solidFill>
              </a:defRPr>
            </a:pPr>
            <a:r>
              <a:rPr sz="975" b="1">
                <a:solidFill>
                  <a:srgbClr val="3B2371"/>
                </a:solidFill>
              </a:rPr>
              <a:t>正式汇报模板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BBBF2-2A1B-412D-AE34-AB45586E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43150"/>
            <a:ext cx="4953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8202A"/>
                </a:solidFill>
              </a:defRPr>
            </a:pPr>
            <a:r>
              <a:rPr sz="4050" b="1">
                <a:solidFill>
                  <a:srgbClr val="18202A"/>
                </a:solidFill>
              </a:rPr>
              <a:t>入职两个月阶段</a:t>
            </a:r>
          </a:p>
          <a:p xmlns:a="http://schemas.openxmlformats.org/drawingml/2006/main">
            <a:pPr algn="l">
              <a:defRPr sz="4050" b="1">
                <a:solidFill>
                  <a:srgbClr val="18202A"/>
                </a:solidFill>
              </a:defRPr>
            </a:pPr>
            <a:r>
              <a:rPr sz="4050" b="1">
                <a:solidFill>
                  <a:srgbClr val="18202A"/>
                </a:solidFill>
              </a:rPr>
              <a:t>工作汇报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F3D5F3-D76E-4010-B6E5-517F064E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624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</a:defRPr>
            </a:pPr>
            <a:r>
              <a:rPr sz="1275" b="0">
                <a:solidFill>
                  <a:srgbClr val="5B6470"/>
                </a:solidFill>
              </a:rPr>
              <a:t>2026.05.06 — 2026.07 初</a:t>
            </a:r>
          </a:p>
          <a:p xmlns:a="http://schemas.openxmlformats.org/drawingml/2006/main">
            <a:pPr algn="l">
              <a:defRPr sz="1275" b="0">
                <a:solidFill>
                  <a:srgbClr val="5B6470"/>
                </a:solidFill>
              </a:defRPr>
            </a:pPr>
            <a:r>
              <a:rPr sz="1275" b="0">
                <a:solidFill>
                  <a:srgbClr val="5B6470"/>
                </a:solidFill>
              </a:rPr>
              <a:t>技术应用科学家 / 三维细胞模型产品支持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06DCAA-78AB-44E6-901B-0A046C99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05350"/>
            <a:ext cx="419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AF8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6D8C82-CDA1-4463-A4F1-9F9DA36E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529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B2371"/>
                </a:solidFill>
              </a:defRPr>
            </a:pPr>
            <a:r>
              <a:rPr sz="825" b="1">
                <a:solidFill>
                  <a:srgbClr val="3B2371"/>
                </a:solidFill>
              </a:rPr>
              <a:t>16:9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1B6C20-BD3F-4D5B-930F-ADD848E4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666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0EC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0218D3-CE3C-46EF-AE0C-AAB3DB1A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5297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B6B5E"/>
                </a:solidFill>
              </a:defRPr>
            </a:pPr>
            <a:r>
              <a:rPr sz="825" b="1">
                <a:solidFill>
                  <a:srgbClr val="1B6B5E"/>
                </a:solidFill>
              </a:rPr>
              <a:t>阶段汇报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280476-ECC8-41E2-8506-571D2CEB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053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E7C8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63B60A-B0AB-4410-B769-466590BA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52975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C5718"/>
                </a:solidFill>
              </a:defRPr>
            </a:pPr>
            <a:r>
              <a:rPr sz="825" b="1">
                <a:solidFill>
                  <a:srgbClr val="7C5718"/>
                </a:solidFill>
              </a:rPr>
              <a:t>可编辑复用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DA959A-530B-4306-AD9A-673F1E5D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4953000" cy="2381250"/>
          </a:xfrm>
          <a:prstGeom xmlns:a="http://schemas.openxmlformats.org/drawingml/2006/main" prst="roundRect">
            <a:avLst>
              <a:gd name="adj" fmla="val 6400"/>
            </a:avLst>
          </a:prstGeom>
          <a:ln xmlns:a="http://schemas.openxmlformats.org/drawingml/2006/main" w="9525">
            <a:solidFill>
              <a:srgbClr val="BDB5D6"/>
            </a:solidFill>
            <a:prstDash val="dash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d8d6ddbcc4201"/>
          <a:stretch xmlns:a="http://schemas.openxmlformats.org/drawingml/2006/main"/>
        </p:blipFill>
        <p:spPr>
          <a:xfrm xmlns:a="http://schemas.openxmlformats.org/drawingml/2006/main">
            <a:off x="8286750" y="300990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7F79E4-469D-46A4-AB70-7BB044D0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29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8202A"/>
                </a:solidFill>
              </a:defRPr>
            </a:pPr>
            <a:r>
              <a:rPr sz="938" b="0">
                <a:solidFill>
                  <a:srgbClr val="18202A"/>
                </a:solidFill>
              </a:rPr>
              <a:t>从产品技术学习出发，逐步沉淀产品资料、客户问题、售后系统与售前线索，形成可复用业务知识资产。</a:t>
            </a:r>
          </a:p>
        </p:txBody>
      </p:sp>
    </p:spTree>
    <p:extLst>
      <p:ext uri="{BB962C8B-B14F-4D97-AF65-F5344CB8AC3E}">
        <p14:creationId xmlns:p14="http://schemas.microsoft.com/office/powerpoint/2010/main" val="17008064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6E062B-AFAF-4505-8F26-05042D3A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A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3ee65655024b15"/>
          <a:stretch xmlns:a="http://schemas.openxmlformats.org/drawingml/2006/main"/>
        </p:blipFill>
        <p:spPr>
          <a:xfrm xmlns:a="http://schemas.openxmlformats.org/drawingml/2006/main">
            <a:off x="495300" y="3238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27654-AC55-40AB-AC0E-940EF0F0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B2371"/>
                </a:solidFill>
              </a:defRPr>
            </a:pPr>
            <a:r>
              <a:rPr sz="900" b="1">
                <a:solidFill>
                  <a:srgbClr val="3B2371"/>
                </a:solidFill>
              </a:rPr>
              <a:t>VIVOID 三体生物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CE123B-477C-470E-A1D9-8B0A118C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0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0"/>
                </a:solidFill>
              </a:defRPr>
            </a:pPr>
            <a:r>
              <a:rPr sz="900" b="0">
                <a:solidFill>
                  <a:srgbClr val="5B6470"/>
                </a:solidFill>
              </a:rPr>
              <a:t>02 / AGENDA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A9F1E-7DF7-4638-AA76-EDFA82AC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007D7B-64EE-4197-BC27-F22B5639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009BEE-6F4B-4C78-ADFD-E49A0462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</a:defRPr>
            </a:pPr>
            <a:r>
              <a:rPr sz="825" b="0">
                <a:solidFill>
                  <a:srgbClr val="5B6470"/>
                </a:solidFill>
              </a:rPr>
              <a:t>汇报总览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B67078-FA18-45B1-B76A-B9C60D9A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470"/>
                </a:solidFill>
              </a:defRPr>
            </a:pPr>
            <a:r>
              <a:rPr sz="825" b="0">
                <a:solidFill>
                  <a:srgbClr val="5B6470"/>
                </a:solidFill>
              </a:rPr>
              <a:t>主线 + 协助事项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8DEE85-E4E3-47A9-BF75-E01A65D8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2371"/>
                </a:solidFill>
              </a:defRPr>
            </a:pPr>
            <a:r>
              <a:rPr sz="975" b="1">
                <a:solidFill>
                  <a:srgbClr val="3B2371"/>
                </a:solidFill>
              </a:rPr>
              <a:t>目录页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CE68FD-CC76-488E-B19C-23EB265B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193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</a:defRPr>
            </a:pPr>
            <a:r>
              <a:rPr sz="2550" b="1">
                <a:solidFill>
                  <a:srgbClr val="18202A"/>
                </a:solidFill>
              </a:rPr>
              <a:t>这两个月做了什么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54B287-EFCC-435F-98C6-6530D3D0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0"/>
            <a:ext cx="3333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68D524-10E1-4768-A49C-E38AF656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23DB34-65FE-480C-9FC4-C3D4EEB1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242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23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86E63D-9DCC-453E-8546-C218B824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3A3D62-7107-4084-AD09-58C0DC79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产品技术学习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C38833-229C-4238-A1D2-A71516BA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43250"/>
            <a:ext cx="3333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F7BBAF-9A45-4F3D-8014-F6B969B2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2956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E2AB60-3240-4A64-A5FD-BCFA26F1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3242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23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12C057-379E-45E6-9B9E-F9389F69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3623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1BB45A-BA1A-43EF-A88D-529555E1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337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文献证据核验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4C074B-7F78-4D17-A7F4-80F36797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81450"/>
            <a:ext cx="3333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338E4D-5ADD-4C51-B90E-36BDEDFE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9597AC-0B2D-4035-B27E-257B9C92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23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D4887E-6A5C-4C3B-9EA9-54C6E024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0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2F7AA6-C113-4B17-8E3F-61D68619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产品线资料与 PPT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0F0B9C-7880-4C20-A5B1-AEEC4D95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981450"/>
            <a:ext cx="3333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18BC61-0476-4B94-B81F-747CDC7B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1338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43C578-FB25-4CA2-B2DB-4B5FA39B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162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23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D47F48-CDEE-41AD-A633-084AACCF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200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CA63F4-4EB2-4BA9-9704-4BA1B512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719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客户售后问题支持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1A39BF-3EA7-4D20-9C5E-375AAE8B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3333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884598-9830-4391-AEC6-0350B434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720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E1F9A5-6EEE-4FF8-B17F-12F0DE1F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23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1DDBF7-7E19-49F6-8C75-3A389BDC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387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BEF5DB-3231-4C1F-A477-35F5AB49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101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售后信息管理系统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E5877A-8FB6-411B-97D1-32BE285B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819650"/>
            <a:ext cx="3333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CEB3B9-1A23-4B85-A11F-F7B83DEA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9720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A1F8F6-36BB-4C41-B021-15591FD9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0006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23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9B922F-DA4D-4D78-B979-63E11C6E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0387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3AF609-B13D-4FE1-8016-1DBAD6A4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0101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售前高校拓客资料库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43B981-8DF5-4EE3-820C-7076AB9C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57850"/>
            <a:ext cx="3333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B7B6CF-B96E-4410-A1F6-6FD6C689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E844D5F-8325-4B10-8745-D69B0F76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38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23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64789E-9B79-426F-A623-7F3CBA09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CD3C01-57F7-4F4D-9A60-A50E0CFC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483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AI / Codex / GitHub / R2 协作贯穿始终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9E7451-538E-4A52-A84B-61B331EA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342900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EFEAF8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7A955BD-6FEE-41F2-AE93-79DD1101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718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B2371"/>
                </a:solidFill>
              </a:defRPr>
            </a:pPr>
            <a:r>
              <a:rPr sz="1500" b="1">
                <a:solidFill>
                  <a:srgbClr val="3B2371"/>
                </a:solidFill>
              </a:rPr>
              <a:t>其他协助事项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D1B9CAA-DC5D-4B37-89D8-183A6FB1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90950"/>
            <a:ext cx="295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0"/>
                </a:solidFill>
              </a:defRPr>
            </a:pPr>
            <a:r>
              <a:rPr sz="1125" b="0">
                <a:solidFill>
                  <a:srgbClr val="5B6470"/>
                </a:solidFill>
              </a:rPr>
              <a:t>微信售后群答疑 / 外部会议客户问题 / 公众号小红书接手 / 公众号排版工具 / 少量候选人材料。</a:t>
            </a:r>
          </a:p>
        </p:txBody>
      </p:sp>
    </p:spTree>
    <p:extLst>
      <p:ext uri="{BB962C8B-B14F-4D97-AF65-F5344CB8AC3E}">
        <p14:creationId xmlns:p14="http://schemas.microsoft.com/office/powerpoint/2010/main" val="15210342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FDFA4F-F98C-4A15-9787-0E25F3D0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A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7de32362b4827"/>
          <a:stretch xmlns:a="http://schemas.openxmlformats.org/drawingml/2006/main"/>
        </p:blipFill>
        <p:spPr>
          <a:xfrm xmlns:a="http://schemas.openxmlformats.org/drawingml/2006/main">
            <a:off x="495300" y="3238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E1841-C205-4D05-9313-8F6BC315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B2371"/>
                </a:solidFill>
              </a:defRPr>
            </a:pPr>
            <a:r>
              <a:rPr sz="900" b="1">
                <a:solidFill>
                  <a:srgbClr val="3B2371"/>
                </a:solidFill>
              </a:rPr>
              <a:t>VIVOID 三体生物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1A8BC-107A-4543-8E43-1740D3D2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0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0"/>
                </a:solidFill>
              </a:defRPr>
            </a:pPr>
            <a:r>
              <a:rPr sz="900" b="0">
                <a:solidFill>
                  <a:srgbClr val="5B6470"/>
                </a:solidFill>
              </a:rPr>
              <a:t>03 / TIMELINE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EDFA4-88BB-45F4-9FAE-F8E87E96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058F7-29F2-441B-8904-A6C6142B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6A9E51-95FE-4192-8557-E9291766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</a:defRPr>
            </a:pPr>
            <a:r>
              <a:rPr sz="825" b="0">
                <a:solidFill>
                  <a:srgbClr val="5B6470"/>
                </a:solidFill>
              </a:rPr>
              <a:t>时间轴模板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8A300-DA08-418F-912D-07C589B6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470"/>
                </a:solidFill>
              </a:defRPr>
            </a:pPr>
            <a:r>
              <a:rPr sz="825" b="0">
                <a:solidFill>
                  <a:srgbClr val="5B6470"/>
                </a:solidFill>
              </a:rPr>
              <a:t>阶段进展 / 项目复盘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7D8F8B-A642-4F16-8586-44F9F8A8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2371"/>
                </a:solidFill>
              </a:defRPr>
            </a:pPr>
            <a:r>
              <a:rPr sz="975" b="1">
                <a:solidFill>
                  <a:srgbClr val="3B2371"/>
                </a:solidFill>
              </a:rPr>
              <a:t>时间轴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773D97-0F83-403A-8172-4742C7B1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193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</a:defRPr>
            </a:pPr>
            <a:r>
              <a:rPr sz="2550" b="1">
                <a:solidFill>
                  <a:srgbClr val="18202A"/>
                </a:solidFill>
              </a:rPr>
              <a:t>2026.05.06 — 2026.07 初主要工作节奏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A07FD8-C94E-44D3-A170-67EE35BE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998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DB5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6E3D64-576B-408C-AB8C-FB9384D3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800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23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BA1F69-3486-4A5C-B3AD-0069861F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194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B2371"/>
                </a:solidFill>
              </a:defRPr>
            </a:pPr>
            <a:r>
              <a:rPr sz="825" b="1">
                <a:solidFill>
                  <a:srgbClr val="3B2371"/>
                </a:solidFill>
              </a:rPr>
              <a:t>05.06—05.08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E175F2-C98A-4F36-9D6B-A1BF72CA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095750"/>
            <a:ext cx="123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B6470"/>
                </a:solidFill>
              </a:defRPr>
            </a:pPr>
            <a:r>
              <a:rPr sz="863" b="0">
                <a:solidFill>
                  <a:srgbClr val="5B6470"/>
                </a:solidFill>
              </a:rPr>
              <a:t>产品技术学习：3D 细胞球、类器官、免疫杀伤、PPT 讲解逻辑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0C06E6-2D39-4EAD-ACE4-E596612E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800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23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910411-7224-444A-BFAE-42FB5A58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2194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B2371"/>
                </a:solidFill>
              </a:defRPr>
            </a:pPr>
            <a:r>
              <a:rPr sz="825" b="1">
                <a:solidFill>
                  <a:srgbClr val="3B2371"/>
                </a:solidFill>
              </a:rPr>
              <a:t>05 下旬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B97FB1-073B-4593-BF71-3DBE98D9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95750"/>
            <a:ext cx="123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B6470"/>
                </a:solidFill>
              </a:defRPr>
            </a:pPr>
            <a:r>
              <a:rPr sz="863" b="0">
                <a:solidFill>
                  <a:srgbClr val="5B6470"/>
                </a:solidFill>
              </a:rPr>
              <a:t>VIVOID / 三体产品文献证据核验、客户案例整理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2D8AAB-C66D-4A4E-B478-CA5A4440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800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23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96165A-C410-4591-A1EE-8A668130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194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B2371"/>
                </a:solidFill>
              </a:defRPr>
            </a:pPr>
            <a:r>
              <a:rPr sz="825" b="1">
                <a:solidFill>
                  <a:srgbClr val="3B2371"/>
                </a:solidFill>
              </a:rPr>
              <a:t>06 上旬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1FCC79-E36B-4F09-96B4-566CC7FB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095750"/>
            <a:ext cx="123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B6470"/>
                </a:solidFill>
              </a:defRPr>
            </a:pPr>
            <a:r>
              <a:rPr sz="863" b="0">
                <a:solidFill>
                  <a:srgbClr val="5B6470"/>
                </a:solidFill>
              </a:rPr>
              <a:t>候选人材料等少量内部支持；继续技术资料消化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B8A51E-8113-48C7-8526-8B9D55F2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800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23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3B8EFC-AA6A-4411-AA12-7BD4E64C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194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B2371"/>
                </a:solidFill>
              </a:defRPr>
            </a:pPr>
            <a:r>
              <a:rPr sz="825" b="1">
                <a:solidFill>
                  <a:srgbClr val="3B2371"/>
                </a:solidFill>
              </a:rPr>
              <a:t>06 中旬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F65CA1-E269-4A82-9A1C-88261289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095750"/>
            <a:ext cx="123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B6470"/>
                </a:solidFill>
              </a:defRPr>
            </a:pPr>
            <a:r>
              <a:rPr sz="863" b="0">
                <a:solidFill>
                  <a:srgbClr val="5B6470"/>
                </a:solidFill>
              </a:rPr>
              <a:t>售后系统：微信导入、Postgres、证据库、字段固化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057857-AA30-42DC-8B04-B7302250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800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23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29A954-172A-4D3F-8300-29F207A5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194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B2371"/>
                </a:solidFill>
              </a:defRPr>
            </a:pPr>
            <a:r>
              <a:rPr sz="825" b="1">
                <a:solidFill>
                  <a:srgbClr val="3B2371"/>
                </a:solidFill>
              </a:rPr>
              <a:t>06 下旬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A41921-8FBD-4890-876A-B195D4DB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95750"/>
            <a:ext cx="123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B6470"/>
                </a:solidFill>
              </a:defRPr>
            </a:pPr>
            <a:r>
              <a:rPr sz="863" b="0">
                <a:solidFill>
                  <a:srgbClr val="5B6470"/>
                </a:solidFill>
              </a:rPr>
              <a:t>产品线 PPT、说明图、康宁对标、类器官叙事升级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B05652-6722-4DDF-9646-3978364B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00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23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E00373-0A8F-428C-980C-AA0DD604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194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B2371"/>
                </a:solidFill>
              </a:defRPr>
            </a:pPr>
            <a:r>
              <a:rPr sz="825" b="1">
                <a:solidFill>
                  <a:srgbClr val="3B2371"/>
                </a:solidFill>
              </a:rPr>
              <a:t>06.30—07.02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6DBD28-82A0-4982-911F-2325CEC5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95750"/>
            <a:ext cx="123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B6470"/>
                </a:solidFill>
              </a:defRPr>
            </a:pPr>
            <a:r>
              <a:rPr sz="863" b="0">
                <a:solidFill>
                  <a:srgbClr val="5B6470"/>
                </a:solidFill>
              </a:rPr>
              <a:t>售前拓客：苏大基础医学院、raw crawler、ABCDE/Null 分级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49546F-5699-4AF0-95F2-58778CD6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3800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23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FB7B44-CC5C-40B9-A684-91B108D4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2194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B2371"/>
                </a:solidFill>
              </a:defRPr>
            </a:pPr>
            <a:r>
              <a:rPr sz="825" b="1">
                <a:solidFill>
                  <a:srgbClr val="3B2371"/>
                </a:solidFill>
              </a:rPr>
              <a:t>07.03—07.04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54421B-7DF5-4BB5-AC39-5EB6D5B0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095750"/>
            <a:ext cx="123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B6470"/>
                </a:solidFill>
              </a:defRPr>
            </a:pPr>
            <a:r>
              <a:rPr sz="863" b="0">
                <a:solidFill>
                  <a:srgbClr val="5B6470"/>
                </a:solidFill>
              </a:rPr>
              <a:t>客户取球问题、收件箱优化、售前工作台、汇报整理</a:t>
            </a:r>
          </a:p>
        </p:txBody>
      </p:sp>
    </p:spTree>
    <p:extLst>
      <p:ext uri="{BB962C8B-B14F-4D97-AF65-F5344CB8AC3E}">
        <p14:creationId xmlns:p14="http://schemas.microsoft.com/office/powerpoint/2010/main" val="15812648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A08141-6A01-4F4A-A119-604704E7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A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54fa28b3f74590"/>
          <a:stretch xmlns:a="http://schemas.openxmlformats.org/drawingml/2006/main"/>
        </p:blipFill>
        <p:spPr>
          <a:xfrm xmlns:a="http://schemas.openxmlformats.org/drawingml/2006/main">
            <a:off x="495300" y="3238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83094-6E3A-48CA-91FE-50239B97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B2371"/>
                </a:solidFill>
              </a:defRPr>
            </a:pPr>
            <a:r>
              <a:rPr sz="900" b="1">
                <a:solidFill>
                  <a:srgbClr val="3B2371"/>
                </a:solidFill>
              </a:rPr>
              <a:t>VIVOID 三体生物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4FC63-FA1D-47C2-94FC-C26A5309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0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0"/>
                </a:solidFill>
              </a:defRPr>
            </a:pPr>
            <a:r>
              <a:rPr sz="900" b="0">
                <a:solidFill>
                  <a:srgbClr val="5B6470"/>
                </a:solidFill>
              </a:rPr>
              <a:t>04 / KEY MESSAGE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CEA55-7AF9-4194-8DA7-330BA529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FF41E1-3356-4398-987C-DC6B53CC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91232E-3C7C-41C3-8C97-CFADC3B3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</a:defRPr>
            </a:pPr>
            <a:r>
              <a:rPr sz="825" b="0">
                <a:solidFill>
                  <a:srgbClr val="5B6470"/>
                </a:solidFill>
              </a:rPr>
              <a:t>产品技术学习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B0599C-D0CD-4D32-99D1-68F95ACB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470"/>
                </a:solidFill>
              </a:defRPr>
            </a:pPr>
            <a:r>
              <a:rPr sz="825" b="0">
                <a:solidFill>
                  <a:srgbClr val="5B6470"/>
                </a:solidFill>
              </a:rPr>
              <a:t>一页一个判断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181E03-C23F-4C11-B7DC-B89B1AC8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2371"/>
                </a:solidFill>
              </a:defRPr>
            </a:pPr>
            <a:r>
              <a:rPr sz="975" b="1">
                <a:solidFill>
                  <a:srgbClr val="3B2371"/>
                </a:solidFill>
              </a:rPr>
              <a:t>产品技术学习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F3DF6A-9A36-4308-88F4-E6A14BDD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193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</a:defRPr>
            </a:pPr>
            <a:r>
              <a:rPr sz="2550" b="1">
                <a:solidFill>
                  <a:srgbClr val="18202A"/>
                </a:solidFill>
              </a:rPr>
              <a:t>从“能看懂”推进到“能解释产品如何服务客户实验”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35B3F-9870-4DAF-A37D-1E606152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71850"/>
            <a:ext cx="2571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D7EFE3-FD89-4823-8007-86F042AA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关键词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027088-3A05-4D96-A078-CBDA8DE5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2228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13D"/>
                </a:solidFill>
              </a:defRPr>
            </a:pPr>
            <a:r>
              <a:rPr sz="1013" b="0">
                <a:solidFill>
                  <a:srgbClr val="26313D"/>
                </a:solidFill>
              </a:rPr>
              <a:t>3D spheroid / organoid / ULA / honeycomb / microwell。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D03F9A-95B1-4ECF-83D5-037FC8A3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71850"/>
            <a:ext cx="2571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0B883D-69C8-436E-B838-4AA28AD4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242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成球方法比较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5B6A31-E723-4714-92A9-46F06B18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29050"/>
            <a:ext cx="2228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13D"/>
                </a:solidFill>
              </a:defRPr>
            </a:pPr>
            <a:r>
              <a:rPr sz="1013" b="0">
                <a:solidFill>
                  <a:srgbClr val="26313D"/>
                </a:solidFill>
              </a:rPr>
              <a:t>超低吸附板 / 悬滴法 / 琼脂糖包被 / 微孔阵列 / 微流控。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6FCAD3-97BD-4953-A6BE-2728E719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71850"/>
            <a:ext cx="2571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31371D-9540-449E-981B-24C04E02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242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应用场景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90D179-2689-4AAD-B9C1-6A882EF4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29050"/>
            <a:ext cx="2228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13D"/>
                </a:solidFill>
              </a:defRPr>
            </a:pPr>
            <a:r>
              <a:rPr sz="1013" b="0">
                <a:solidFill>
                  <a:srgbClr val="26313D"/>
                </a:solidFill>
              </a:rPr>
              <a:t>药物筛选 / NK-PBMC 杀伤 / ADCC / ADCP / CDC / CAR-M / 纳米颗粒渗透 / PDO 原位追踪。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238E99-C9AB-4018-8815-06F4B195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71850"/>
            <a:ext cx="2571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09FF17-D1D3-401D-AF99-88BBFE4A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242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汇报表达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437A69-2768-4899-9049-1B2CC7FD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29050"/>
            <a:ext cx="2228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13D"/>
                </a:solidFill>
              </a:defRPr>
            </a:pPr>
            <a:r>
              <a:rPr sz="1013" b="0">
                <a:solidFill>
                  <a:srgbClr val="26313D"/>
                </a:solidFill>
              </a:rPr>
              <a:t>从产品结构、实验过程与客户价值三个层面组织表达。</a:t>
            </a:r>
          </a:p>
        </p:txBody>
      </p:sp>
    </p:spTree>
    <p:extLst>
      <p:ext uri="{BB962C8B-B14F-4D97-AF65-F5344CB8AC3E}">
        <p14:creationId xmlns:p14="http://schemas.microsoft.com/office/powerpoint/2010/main" val="4409859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B0AF77-2E12-4FD6-B7ED-68375F1D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A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44fca159e64e81"/>
          <a:stretch xmlns:a="http://schemas.openxmlformats.org/drawingml/2006/main"/>
        </p:blipFill>
        <p:spPr>
          <a:xfrm xmlns:a="http://schemas.openxmlformats.org/drawingml/2006/main">
            <a:off x="495300" y="3238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2BCBC-2363-4455-9935-D2B65CCB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B2371"/>
                </a:solidFill>
              </a:defRPr>
            </a:pPr>
            <a:r>
              <a:rPr sz="900" b="1">
                <a:solidFill>
                  <a:srgbClr val="3B2371"/>
                </a:solidFill>
              </a:rPr>
              <a:t>VIVOID 三体生物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B99474-8601-4850-91A9-A2C85FE9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0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0"/>
                </a:solidFill>
              </a:defRPr>
            </a:pPr>
            <a:r>
              <a:rPr sz="900" b="0">
                <a:solidFill>
                  <a:srgbClr val="5B6470"/>
                </a:solidFill>
              </a:rPr>
              <a:t>05 /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85330-B080-4AA1-9EFA-036FB597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9CCAD-C8FA-4142-A95E-BB1A89F3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E69E5-0389-4ACF-A807-0631E3B2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</a:defRPr>
            </a:pPr>
            <a:r>
              <a:rPr sz="825" b="0">
                <a:solidFill>
                  <a:srgbClr val="5B6470"/>
                </a:solidFill>
              </a:rPr>
              <a:t>证据页模板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17633C-BAA3-41FD-85D4-3682897B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470"/>
                </a:solidFill>
              </a:defRPr>
            </a:pPr>
            <a:r>
              <a:rPr sz="825" b="0">
                <a:solidFill>
                  <a:srgbClr val="5B6470"/>
                </a:solidFill>
              </a:rPr>
              <a:t>证据等级 / 引用边界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FC7A45-4C8D-45B5-8B6E-80498313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2371"/>
                </a:solidFill>
              </a:defRPr>
            </a:pPr>
            <a:r>
              <a:rPr sz="975" b="1">
                <a:solidFill>
                  <a:srgbClr val="3B2371"/>
                </a:solidFill>
              </a:rPr>
              <a:t>文献证据核验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E127A-E46F-4966-8554-EDE1D3C4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193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</a:defRPr>
            </a:pPr>
            <a:r>
              <a:rPr sz="2550" b="1">
                <a:solidFill>
                  <a:srgbClr val="18202A"/>
                </a:solidFill>
              </a:rPr>
              <a:t>避免把弱相关论文包装成强产品案例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9A2C0-ADAC-4036-84A0-19CB735C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28950"/>
            <a:ext cx="514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</a:defRPr>
            </a:pPr>
            <a:r>
              <a:rPr sz="1275" b="0">
                <a:solidFill>
                  <a:srgbClr val="5B6470"/>
                </a:solidFill>
              </a:rPr>
              <a:t>检索关键词：VIVOID / 三体生物 / Suzhou SanTi / AUT042801 / AUT042805 / honeycomb / microwell / ULA。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9BD8C4-D9F9-46E1-B7CD-F121FC64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1524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AF8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E38804-8BD4-47A2-A219-B09D2886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4812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B2371"/>
                </a:solidFill>
              </a:defRPr>
            </a:pPr>
            <a:r>
              <a:rPr sz="825" b="1">
                <a:solidFill>
                  <a:srgbClr val="3B2371"/>
                </a:solidFill>
              </a:rPr>
              <a:t>VIVOID Biotechnology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D91E60-B0D3-4561-9CFF-1E1281FF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00500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AF8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446F5C-58F5-442C-9B02-63404A7B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48125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B2371"/>
                </a:solidFill>
              </a:defRPr>
            </a:pPr>
            <a:r>
              <a:rPr sz="825" b="1">
                <a:solidFill>
                  <a:srgbClr val="3B2371"/>
                </a:solidFill>
              </a:rPr>
              <a:t>Suzhou SanTi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299589-E955-4F78-B9BD-67A71E4C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00500"/>
            <a:ext cx="914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AF8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03B84F-AF18-4F1D-BFAB-5756CE7E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48125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B2371"/>
                </a:solidFill>
              </a:defRPr>
            </a:pPr>
            <a:r>
              <a:rPr sz="825" b="1">
                <a:solidFill>
                  <a:srgbClr val="3B2371"/>
                </a:solidFill>
              </a:rPr>
              <a:t>AUT042801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DC568F-6C68-48E2-918D-EFC585AA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00500"/>
            <a:ext cx="1314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AF8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24B149-D59C-43C1-BCF9-BDF23591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48125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B2371"/>
                </a:solidFill>
              </a:defRPr>
            </a:pPr>
            <a:r>
              <a:rPr sz="825" b="1">
                <a:solidFill>
                  <a:srgbClr val="3B2371"/>
                </a:solidFill>
              </a:rPr>
              <a:t>Honeycomb Chips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1EB679-9EFD-4146-99DA-5CF4D1BE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62450"/>
            <a:ext cx="1524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AF8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243061-F72A-48CC-BA08-8D243743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1007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B2371"/>
                </a:solidFill>
              </a:defRPr>
            </a:pPr>
            <a:r>
              <a:rPr sz="825" b="1">
                <a:solidFill>
                  <a:srgbClr val="3B2371"/>
                </a:solidFill>
              </a:rPr>
              <a:t>stamping technology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4313DE-C2D1-49BC-BCD6-97CE9FCA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2286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F17C4B-526A-49A5-8FD6-20527D6D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289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强证据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B68AED-BAD1-4C67-8E6E-6D914DA2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33700"/>
            <a:ext cx="1943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13D"/>
                </a:solidFill>
              </a:defRPr>
            </a:pPr>
            <a:r>
              <a:rPr sz="1013" b="0">
                <a:solidFill>
                  <a:srgbClr val="26313D"/>
                </a:solidFill>
              </a:rPr>
              <a:t>Methods / Materials 出现公司名、产品货号、来源。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F95768-D5E2-4EAD-B799-12FEEE57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0"/>
            <a:ext cx="2286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3131F4-A720-49A6-AAB6-0259D52B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289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中证据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4E5156-FBD8-4798-8EF0-DC5564CE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33700"/>
            <a:ext cx="1943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13D"/>
                </a:solidFill>
              </a:defRPr>
            </a:pPr>
            <a:r>
              <a:rPr sz="1013" b="0">
                <a:solidFill>
                  <a:srgbClr val="26313D"/>
                </a:solidFill>
              </a:rPr>
              <a:t>Acknowledgement 或高度特异结构描述。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FF88B5-4CB0-4782-BCA1-265D46E6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71900"/>
            <a:ext cx="2286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740299-AC62-4180-BA93-0231BF17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243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弱线索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02FB68-58B0-4B7E-88AE-44F2893C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29100"/>
            <a:ext cx="1943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13D"/>
                </a:solidFill>
              </a:defRPr>
            </a:pPr>
            <a:r>
              <a:rPr sz="1013" b="0">
                <a:solidFill>
                  <a:srgbClr val="26313D"/>
                </a:solidFill>
              </a:rPr>
              <a:t>仅研究方向相关，不能直接宣传。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94C74A-6D61-4B4D-9360-56FD3296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71900"/>
            <a:ext cx="2286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FEAF8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AB2FCF-F144-478B-B721-320FB0F9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433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B2371"/>
                </a:solidFill>
              </a:defRPr>
            </a:pPr>
            <a:r>
              <a:rPr sz="1350" b="1">
                <a:solidFill>
                  <a:srgbClr val="3B2371"/>
                </a:solidFill>
              </a:rPr>
              <a:t>价值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5EB8FE-3A16-4188-B940-3A3752AB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8625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0"/>
                </a:solidFill>
              </a:defRPr>
            </a:pPr>
            <a:r>
              <a:rPr sz="1013" b="0">
                <a:solidFill>
                  <a:srgbClr val="5B6470"/>
                </a:solidFill>
              </a:rPr>
              <a:t>为宣传材料保留证据链，避免误用案例。</a:t>
            </a:r>
          </a:p>
        </p:txBody>
      </p:sp>
    </p:spTree>
    <p:extLst>
      <p:ext uri="{BB962C8B-B14F-4D97-AF65-F5344CB8AC3E}">
        <p14:creationId xmlns:p14="http://schemas.microsoft.com/office/powerpoint/2010/main" val="18578752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721221-1EA9-43FD-8698-A02A5B56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A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f4e42550f843fb"/>
          <a:stretch xmlns:a="http://schemas.openxmlformats.org/drawingml/2006/main"/>
        </p:blipFill>
        <p:spPr>
          <a:xfrm xmlns:a="http://schemas.openxmlformats.org/drawingml/2006/main">
            <a:off x="495300" y="3238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AAC99-6238-42A0-817B-ADE44ACF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B2371"/>
                </a:solidFill>
              </a:defRPr>
            </a:pPr>
            <a:r>
              <a:rPr sz="900" b="1">
                <a:solidFill>
                  <a:srgbClr val="3B2371"/>
                </a:solidFill>
              </a:rPr>
              <a:t>VIVOID 三体生物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DD88A-57F8-4A58-AA60-737022AE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0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0"/>
                </a:solidFill>
              </a:defRPr>
            </a:pPr>
            <a:r>
              <a:rPr sz="900" b="0">
                <a:solidFill>
                  <a:srgbClr val="5B6470"/>
                </a:solidFill>
              </a:rPr>
              <a:t>06 / PRODUCT CARD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56E0F-E9C0-4E12-B04D-C6D74EF2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EAFB4-4D69-47FE-B673-5E4EDD1F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D1D14-16D1-44CE-877B-B3A41D4D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</a:defRPr>
            </a:pPr>
            <a:r>
              <a:rPr sz="825" b="0">
                <a:solidFill>
                  <a:srgbClr val="5B6470"/>
                </a:solidFill>
              </a:rPr>
              <a:t>产品卡片模板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DF47C9-7E26-44CB-ABD9-46B9CA0F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470"/>
                </a:solidFill>
              </a:defRPr>
            </a:pPr>
            <a:r>
              <a:rPr sz="825" b="0">
                <a:solidFill>
                  <a:srgbClr val="5B6470"/>
                </a:solidFill>
              </a:rPr>
              <a:t>产品地图 / 竞品对标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3A163-FDF5-4DD7-A352-57B4E903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2371"/>
                </a:solidFill>
              </a:defRPr>
            </a:pPr>
            <a:r>
              <a:rPr sz="975" b="1">
                <a:solidFill>
                  <a:srgbClr val="3B2371"/>
                </a:solidFill>
              </a:rPr>
              <a:t>产品线资料与 PPT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E7CF4A-28D4-4BC1-A2D3-2B3C13BA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193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</a:defRPr>
            </a:pPr>
            <a:r>
              <a:rPr sz="2550" b="1">
                <a:solidFill>
                  <a:srgbClr val="18202A"/>
                </a:solidFill>
              </a:rPr>
              <a:t>从“成球耗材”升级为“三维细胞模型培养解决方案”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44AA9F-5A8E-4F64-9F83-EC66E248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25717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E0C5EE-5C8A-4166-8DE0-F7067562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52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产品范围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EF60C2-750A-4721-9F46-4308C10E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2228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13D"/>
                </a:solidFill>
              </a:defRPr>
            </a:pPr>
            <a:r>
              <a:rPr sz="1013" b="0">
                <a:solidFill>
                  <a:srgbClr val="26313D"/>
                </a:solidFill>
              </a:rPr>
              <a:t>超低吸附板 / A 款蜂窝片 / B 款蜂窝片 / C 款 / 96 孔细胞球蜂巢培养板。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39A7DE-C06E-444B-BA2C-E4A313FD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52800"/>
            <a:ext cx="25717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A52C52-7B8F-4E27-BFF7-D01AAC54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052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结构纠错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4DD3C-3332-44A7-BD5F-24A56E28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10000"/>
            <a:ext cx="2228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13D"/>
                </a:solidFill>
              </a:defRPr>
            </a:pPr>
            <a:r>
              <a:rPr sz="1013" b="0">
                <a:solidFill>
                  <a:srgbClr val="26313D"/>
                </a:solidFill>
              </a:rPr>
              <a:t>A 款 394 微孔 / B 款 60 孔 / 96 孔蜂巢板是大孔内含微孔。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49E4E1-02BC-42B7-B24B-6C5C0117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52800"/>
            <a:ext cx="25717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E0144B-BC1E-4332-BB91-52C17F54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052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图文材料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DBCBE0-0F83-418E-A823-74555BA9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10000"/>
            <a:ext cx="2228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13D"/>
                </a:solidFill>
              </a:defRPr>
            </a:pPr>
            <a:r>
              <a:rPr sz="1013" b="0">
                <a:solidFill>
                  <a:srgbClr val="26313D"/>
                </a:solidFill>
              </a:rPr>
              <a:t>产品图 / 使用说明图 / 移液枪操作图 / EP 管承接 / 超净工作台场景图。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FAF78A-E9C6-4DE1-BCE9-FF16CB30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52800"/>
            <a:ext cx="25717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422798-F92B-4892-B68A-2D62AB7E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052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对标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525752-EEA9-42EA-BF92-20316020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10000"/>
            <a:ext cx="2228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13D"/>
                </a:solidFill>
              </a:defRPr>
            </a:pPr>
            <a:r>
              <a:rPr sz="1013" b="0">
                <a:solidFill>
                  <a:srgbClr val="26313D"/>
                </a:solidFill>
              </a:rPr>
              <a:t>Corning Spheroid Microplates / Ultra-Low Attachment Plates / Elplasia Microcavity Plates。</a:t>
            </a:r>
          </a:p>
        </p:txBody>
      </p:sp>
    </p:spTree>
    <p:extLst>
      <p:ext uri="{BB962C8B-B14F-4D97-AF65-F5344CB8AC3E}">
        <p14:creationId xmlns:p14="http://schemas.microsoft.com/office/powerpoint/2010/main" val="215554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F27ADC-221B-4234-95D9-50AA2D70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A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d31c1429824e2d"/>
          <a:stretch xmlns:a="http://schemas.openxmlformats.org/drawingml/2006/main"/>
        </p:blipFill>
        <p:spPr>
          <a:xfrm xmlns:a="http://schemas.openxmlformats.org/drawingml/2006/main">
            <a:off x="495300" y="3238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F9CA5D-3485-4576-B08E-2D184A79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B2371"/>
                </a:solidFill>
              </a:defRPr>
            </a:pPr>
            <a:r>
              <a:rPr sz="900" b="1">
                <a:solidFill>
                  <a:srgbClr val="3B2371"/>
                </a:solidFill>
              </a:rPr>
              <a:t>VIVOID 三体生物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C598B-83B3-45D5-8DD2-85A73178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0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0"/>
                </a:solidFill>
              </a:defRPr>
            </a:pPr>
            <a:r>
              <a:rPr sz="900" b="0">
                <a:solidFill>
                  <a:srgbClr val="5B6470"/>
                </a:solidFill>
              </a:rPr>
              <a:t>07 / FISHBONE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A98F8-288F-4813-836B-91861B8B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6BB71-E168-4417-97CE-6AE6FB3C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D06DD-EF03-4C9A-9DB4-572B7EA8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</a:defRPr>
            </a:pPr>
            <a:r>
              <a:rPr sz="825" b="0">
                <a:solidFill>
                  <a:srgbClr val="5B6470"/>
                </a:solidFill>
              </a:rPr>
              <a:t>客户问题 → 售后知识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3BF0FC-D0ED-4870-BEBE-990A4CDA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470"/>
                </a:solidFill>
              </a:defRPr>
            </a:pPr>
            <a:r>
              <a:rPr sz="825" b="0">
                <a:solidFill>
                  <a:srgbClr val="5B6470"/>
                </a:solidFill>
              </a:rPr>
              <a:t>原因分析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AE0DAC-FBB4-4332-80C2-3F7E51F9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2371"/>
                </a:solidFill>
              </a:defRPr>
            </a:pPr>
            <a:r>
              <a:rPr sz="975" b="1">
                <a:solidFill>
                  <a:srgbClr val="3B2371"/>
                </a:solidFill>
              </a:rPr>
              <a:t>客户售后问题支持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4A8D1B-4380-45F2-A1A1-4FDC3E0E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193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</a:defRPr>
            </a:pPr>
            <a:r>
              <a:rPr sz="2550" b="1">
                <a:solidFill>
                  <a:srgbClr val="18202A"/>
                </a:solidFill>
              </a:rPr>
              <a:t>把一次性客户问题转化为长期可复用售后知识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520CEA-7A37-4E79-85B6-E855DA29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289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</a:defRPr>
            </a:pPr>
            <a:r>
              <a:rPr sz="1275" b="0">
                <a:solidFill>
                  <a:srgbClr val="5B6470"/>
                </a:solidFill>
              </a:rPr>
              <a:t>典型案例：96 孔蜂巢板中细胞球 40 h 后不易取出，吹打不好下来。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E6ED67-9C2B-4095-B4B7-04C9BB24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76500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A0A505-9B97-46C0-A0E3-E354B4C8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289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生物因素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D13A35-7ED6-448A-8302-C4A7C06A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33700"/>
            <a:ext cx="213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13D"/>
                </a:solidFill>
              </a:defRPr>
            </a:pPr>
            <a:r>
              <a:rPr sz="1013" b="0">
                <a:solidFill>
                  <a:srgbClr val="26313D"/>
                </a:solidFill>
              </a:rPr>
              <a:t>细胞类型 / 培养时间 / 球体大小 / ECM 分泌。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84B773-05A8-43D6-94B9-D715EE79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3AE654-6CF2-4216-9E4B-6B0FD4D4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289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材料因素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FB292A-E32B-4A08-A0F5-10B5B858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33700"/>
            <a:ext cx="213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13D"/>
                </a:solidFill>
              </a:defRPr>
            </a:pPr>
            <a:r>
              <a:rPr sz="1013" b="0">
                <a:solidFill>
                  <a:srgbClr val="26313D"/>
                </a:solidFill>
              </a:rPr>
              <a:t>孔壁接触 / 表面处理 / 微孔结构。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607428-B760-4EA2-B0D2-8FBAE167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71900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BD7B28-0989-4789-8A2F-E6F9E483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243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操作因素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4722A2-0E80-4AA1-BAED-658F52A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229100"/>
            <a:ext cx="213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13D"/>
                </a:solidFill>
              </a:defRPr>
            </a:pPr>
            <a:r>
              <a:rPr sz="1013" b="0">
                <a:solidFill>
                  <a:srgbClr val="26313D"/>
                </a:solidFill>
              </a:rPr>
              <a:t>枪头位置 / 预润湿 / 剪切力 / 吹打角度。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D08563-69DA-46D5-8F38-A22FC4C8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71900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FEAF8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11401B-620E-4974-9968-383D6D79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43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B2371"/>
                </a:solidFill>
              </a:defRPr>
            </a:pPr>
            <a:r>
              <a:rPr sz="1350" b="1">
                <a:solidFill>
                  <a:srgbClr val="3B2371"/>
                </a:solidFill>
              </a:rPr>
              <a:t>可沉淀内容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09A4BB-E910-4063-BD1A-1DEEEFF8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67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0"/>
                </a:solidFill>
              </a:defRPr>
            </a:pPr>
            <a:r>
              <a:rPr sz="1013" b="0">
                <a:solidFill>
                  <a:srgbClr val="5B6470"/>
                </a:solidFill>
              </a:rPr>
              <a:t>FAQ / SOP / 异常判断流程 / 标准回复模板。</a:t>
            </a:r>
          </a:p>
        </p:txBody>
      </p:sp>
    </p:spTree>
    <p:extLst>
      <p:ext uri="{BB962C8B-B14F-4D97-AF65-F5344CB8AC3E}">
        <p14:creationId xmlns:p14="http://schemas.microsoft.com/office/powerpoint/2010/main" val="18397186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91E74E-165E-4CE4-8A77-692ED0EC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A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7a0ffc4ef4f1c"/>
          <a:stretch xmlns:a="http://schemas.openxmlformats.org/drawingml/2006/main"/>
        </p:blipFill>
        <p:spPr>
          <a:xfrm xmlns:a="http://schemas.openxmlformats.org/drawingml/2006/main">
            <a:off x="495300" y="3238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19DB13-B1A5-4FD6-B376-A7412AA5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B2371"/>
                </a:solidFill>
              </a:defRPr>
            </a:pPr>
            <a:r>
              <a:rPr sz="900" b="1">
                <a:solidFill>
                  <a:srgbClr val="3B2371"/>
                </a:solidFill>
              </a:rPr>
              <a:t>VIVOID 三体生物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F66245-DD57-48B0-A41D-914E1EC2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0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0"/>
                </a:solidFill>
              </a:defRPr>
            </a:pPr>
            <a:r>
              <a:rPr sz="900" b="0">
                <a:solidFill>
                  <a:srgbClr val="5B6470"/>
                </a:solidFill>
              </a:rPr>
              <a:t>08 / PROCESS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398BE-8EF1-4BBA-B08D-4098A7DA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45773-59E0-48A7-B1AF-882F3CA8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A5CF4-F1EF-468A-8DB6-DCA325C1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</a:defRPr>
            </a:pPr>
            <a:r>
              <a:rPr sz="825" b="0">
                <a:solidFill>
                  <a:srgbClr val="5B6470"/>
                </a:solidFill>
              </a:rPr>
              <a:t>流程模板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8B779-73FE-48B6-9458-7B831E05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470"/>
                </a:solidFill>
              </a:defRPr>
            </a:pPr>
            <a:r>
              <a:rPr sz="825" b="0">
                <a:solidFill>
                  <a:srgbClr val="5B6470"/>
                </a:solidFill>
              </a:rPr>
              <a:t>聊天导入 → 知识库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014390-6C36-484D-9077-69CCBCCD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2371"/>
                </a:solidFill>
              </a:defRPr>
            </a:pPr>
            <a:r>
              <a:rPr sz="975" b="1">
                <a:solidFill>
                  <a:srgbClr val="3B2371"/>
                </a:solidFill>
              </a:rPr>
              <a:t>售后信息管理系统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951404-3C06-403A-8D1B-3901686D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193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</a:defRPr>
            </a:pPr>
            <a:r>
              <a:rPr sz="2550" b="1">
                <a:solidFill>
                  <a:srgbClr val="18202A"/>
                </a:solidFill>
              </a:rPr>
              <a:t>不只是保存聊天，而是建设客户问题知识库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36F3E-FB11-455F-9C90-D6EA16F2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71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B6470"/>
                </a:solidFill>
              </a:defRPr>
            </a:pPr>
            <a:r>
              <a:rPr sz="1163" b="0">
                <a:solidFill>
                  <a:srgbClr val="5B6470"/>
                </a:solidFill>
              </a:rPr>
              <a:t>系统：aftersale-vivoid。已推进内容：本地 PostgreSQL / 微信售后群导入 / 媒体幂等 / evidence basket / conversation window curation / Drizzle schema / 后台编辑 UI / inbox 性能问题。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D60DC9-662F-4697-9898-3EF2C466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1962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F666B1-574E-4C56-8310-E61F181C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2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B2371"/>
                </a:solidFill>
              </a:defRPr>
            </a:pPr>
            <a:r>
              <a:rPr sz="1200" b="1">
                <a:solidFill>
                  <a:srgbClr val="3B2371"/>
                </a:solidFill>
              </a:rPr>
              <a:t>原子记录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67437-A167-4AFA-BF0B-C80A8655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6313D"/>
                </a:solidFill>
              </a:defRPr>
            </a:pPr>
            <a:r>
              <a:rPr sz="938" b="0">
                <a:solidFill>
                  <a:srgbClr val="26313D"/>
                </a:solidFill>
              </a:rPr>
              <a:t>客户问题、媒体、证据分别记录。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9F7628-33DD-4BFF-AF31-4274C0B6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4817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842A"/>
                </a:solidFill>
              </a:defRPr>
            </a:pPr>
            <a:r>
              <a:rPr sz="1650" b="1">
                <a:solidFill>
                  <a:srgbClr val="B8842A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D36A3F-3A71-4690-A5FB-90218716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00500"/>
            <a:ext cx="1962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984F12-60D9-4766-856E-681C4FFA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152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B2371"/>
                </a:solidFill>
              </a:defRPr>
            </a:pPr>
            <a:r>
              <a:rPr sz="1200" b="1">
                <a:solidFill>
                  <a:srgbClr val="3B2371"/>
                </a:solidFill>
              </a:rPr>
              <a:t>多标签聚合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0B3590-0D9B-4EDE-BF5E-49E65D6F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4577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6313D"/>
                </a:solidFill>
              </a:defRPr>
            </a:pPr>
            <a:r>
              <a:rPr sz="938" b="0">
                <a:solidFill>
                  <a:srgbClr val="26313D"/>
                </a:solidFill>
              </a:rPr>
              <a:t>围绕问题、产品、客户和场景组织。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135DD2-C0E6-45D5-BA92-2B24A51B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4817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842A"/>
                </a:solidFill>
              </a:defRPr>
            </a:pPr>
            <a:r>
              <a:rPr sz="1650" b="1">
                <a:solidFill>
                  <a:srgbClr val="B8842A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45AE15-ABF7-4605-8CFB-82B42547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000500"/>
            <a:ext cx="1962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43C898-AE63-4391-9C5A-1468BAF8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152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B2371"/>
                </a:solidFill>
              </a:defRPr>
            </a:pPr>
            <a:r>
              <a:rPr sz="1200" b="1">
                <a:solidFill>
                  <a:srgbClr val="3B2371"/>
                </a:solidFill>
              </a:rPr>
              <a:t>内外分离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70711E-4FA2-4BAA-A442-5FEEAE10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577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6313D"/>
                </a:solidFill>
              </a:defRPr>
            </a:pPr>
            <a:r>
              <a:rPr sz="938" b="0">
                <a:solidFill>
                  <a:srgbClr val="26313D"/>
                </a:solidFill>
              </a:rPr>
              <a:t>客户沟通与内部讨论分离。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2DDF48-3D89-4FDD-AFB3-F6129CBC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4817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842A"/>
                </a:solidFill>
              </a:defRPr>
            </a:pPr>
            <a:r>
              <a:rPr sz="1650" b="1">
                <a:solidFill>
                  <a:srgbClr val="B8842A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C086D8-20A9-44D8-94C9-A0470A34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00500"/>
            <a:ext cx="1962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A2DA59-7773-415D-A1BD-5C1C0B7A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52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B2371"/>
                </a:solidFill>
              </a:defRPr>
            </a:pPr>
            <a:r>
              <a:rPr sz="1200" b="1">
                <a:solidFill>
                  <a:srgbClr val="3B2371"/>
                </a:solidFill>
              </a:rPr>
              <a:t>隐私边界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3DF3A0-D242-40B9-983E-BC99B998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577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6313D"/>
                </a:solidFill>
              </a:defRPr>
            </a:pPr>
            <a:r>
              <a:rPr sz="938" b="0">
                <a:solidFill>
                  <a:srgbClr val="26313D"/>
                </a:solidFill>
              </a:rPr>
              <a:t>真实客户数据不暴露在公开页面。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322035-6852-44E1-9CB2-6A36A3EA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4817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842A"/>
                </a:solidFill>
              </a:defRPr>
            </a:pPr>
            <a:r>
              <a:rPr sz="1650" b="1">
                <a:solidFill>
                  <a:srgbClr val="B8842A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51029D-440C-4525-A143-ACE5E0CF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00500"/>
            <a:ext cx="1962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26D670-1D11-4DE1-8EEB-EA165838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152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B2371"/>
                </a:solidFill>
              </a:defRPr>
            </a:pPr>
            <a:r>
              <a:rPr sz="1200" b="1">
                <a:solidFill>
                  <a:srgbClr val="3B2371"/>
                </a:solidFill>
              </a:rPr>
              <a:t>知识库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AA9314-CBB0-4BE9-ACDE-3E20AEB6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4577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6313D"/>
                </a:solidFill>
              </a:defRPr>
            </a:pPr>
            <a:r>
              <a:rPr sz="938" b="0">
                <a:solidFill>
                  <a:srgbClr val="26313D"/>
                </a:solidFill>
              </a:rPr>
              <a:t>沉淀 FAQ / SOP / 标准回复。</a:t>
            </a:r>
          </a:p>
        </p:txBody>
      </p:sp>
    </p:spTree>
    <p:extLst>
      <p:ext uri="{BB962C8B-B14F-4D97-AF65-F5344CB8AC3E}">
        <p14:creationId xmlns:p14="http://schemas.microsoft.com/office/powerpoint/2010/main" val="1547076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ED3F86-80F2-4381-BA15-25822C97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A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864d841c84c1e"/>
          <a:stretch xmlns:a="http://schemas.openxmlformats.org/drawingml/2006/main"/>
        </p:blipFill>
        <p:spPr>
          <a:xfrm xmlns:a="http://schemas.openxmlformats.org/drawingml/2006/main">
            <a:off x="495300" y="3238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138CE-58EC-42B2-B561-82363C24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B2371"/>
                </a:solidFill>
              </a:defRPr>
            </a:pPr>
            <a:r>
              <a:rPr sz="900" b="1">
                <a:solidFill>
                  <a:srgbClr val="3B2371"/>
                </a:solidFill>
              </a:rPr>
              <a:t>VIVOID 三体生物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1E0DF-48A1-4548-8BA8-2B0BE221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0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0"/>
                </a:solidFill>
              </a:defRPr>
            </a:pPr>
            <a:r>
              <a:rPr sz="900" b="0">
                <a:solidFill>
                  <a:srgbClr val="5B6470"/>
                </a:solidFill>
              </a:rPr>
              <a:t>09 / PROCESS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20DB7-DF80-4F49-88E0-BF738AB5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D980E0-C317-4553-B533-E7C30171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B22862-2F20-4F78-8FB0-01F97397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</a:defRPr>
            </a:pPr>
            <a:r>
              <a:rPr sz="825" b="0">
                <a:solidFill>
                  <a:srgbClr val="5B6470"/>
                </a:solidFill>
              </a:rPr>
              <a:t>流程模板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3BB939-9EE1-4A83-9B76-3DDFABE8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470"/>
                </a:solidFill>
              </a:defRPr>
            </a:pPr>
            <a:r>
              <a:rPr sz="825" b="0">
                <a:solidFill>
                  <a:srgbClr val="5B6470"/>
                </a:solidFill>
              </a:rPr>
              <a:t>raw → memory → R2 → 工作台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61E6A-6276-460C-BC51-757C4183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2371"/>
                </a:solidFill>
              </a:defRPr>
            </a:pPr>
            <a:r>
              <a:rPr sz="975" b="1">
                <a:solidFill>
                  <a:srgbClr val="3B2371"/>
                </a:solidFill>
              </a:rPr>
              <a:t>售前高校拓客资料库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9AFF50-B2E2-4DC2-AB5A-9CB9E031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193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</a:defRPr>
            </a:pPr>
            <a:r>
              <a:rPr sz="2550" b="1">
                <a:solidFill>
                  <a:srgbClr val="18202A"/>
                </a:solidFill>
              </a:rPr>
              <a:t>为销售和技术人员提供可追溯的高校拜访线索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0CE4A-C6C1-412E-B450-F3A6E184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0"/>
            <a:ext cx="19621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76988F-E5FE-4C15-807E-D3DEE675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B2371"/>
                </a:solidFill>
              </a:defRPr>
            </a:pPr>
            <a:r>
              <a:rPr sz="1200" b="1">
                <a:solidFill>
                  <a:srgbClr val="3B2371"/>
                </a:solidFill>
              </a:rPr>
              <a:t>苏州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0E9DBE-99AE-487D-8751-4E76D12A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6313D"/>
                </a:solidFill>
              </a:defRPr>
            </a:pPr>
            <a:r>
              <a:rPr sz="938" b="0">
                <a:solidFill>
                  <a:srgbClr val="26313D"/>
                </a:solidFill>
              </a:rPr>
              <a:t>第一阶段：苏州大学基础医学院教师线索。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8AFA64-B604-4951-ABC4-9B822092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481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842A"/>
                </a:solidFill>
              </a:defRPr>
            </a:pPr>
            <a:r>
              <a:rPr sz="1650" b="1">
                <a:solidFill>
                  <a:srgbClr val="B8842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E0F0C6-4237-4587-BD55-ADED41A1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33750"/>
            <a:ext cx="19621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5F9E89-6172-4F69-9647-8141A427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861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B2371"/>
                </a:solidFill>
              </a:defRPr>
            </a:pPr>
            <a:r>
              <a:rPr sz="1200" b="1">
                <a:solidFill>
                  <a:srgbClr val="3B2371"/>
                </a:solidFill>
              </a:rPr>
              <a:t>raw crawler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B17E1B-C226-49C6-9C51-04E7545F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90950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6313D"/>
                </a:solidFill>
              </a:defRPr>
            </a:pPr>
            <a:r>
              <a:rPr sz="938" b="0">
                <a:solidFill>
                  <a:srgbClr val="26313D"/>
                </a:solidFill>
              </a:rPr>
              <a:t>只保存原始网页、详情页、文本、栏目。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A1AF9A-D4FA-4889-AF78-3369BD5A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481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842A"/>
                </a:solidFill>
              </a:defRPr>
            </a:pPr>
            <a:r>
              <a:rPr sz="1650" b="1">
                <a:solidFill>
                  <a:srgbClr val="B8842A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0B402D-0133-4F90-8A55-1D0FE88A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33750"/>
            <a:ext cx="19621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173758-0EBD-451B-AD65-6BB2C4B9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861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B2371"/>
                </a:solidFill>
              </a:defRPr>
            </a:pPr>
            <a:r>
              <a:rPr sz="1200" b="1">
                <a:solidFill>
                  <a:srgbClr val="3B2371"/>
                </a:solidFill>
              </a:rPr>
              <a:t>memory repo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544A4D-00FD-4E4E-9732-DE4831E6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90950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6313D"/>
                </a:solidFill>
              </a:defRPr>
            </a:pPr>
            <a:r>
              <a:rPr sz="938" b="0">
                <a:solidFill>
                  <a:srgbClr val="26313D"/>
                </a:solidFill>
              </a:rPr>
              <a:t>标准化、业务判断、导出。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DE233B-963E-45CE-9427-D6689DFD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481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842A"/>
                </a:solidFill>
              </a:defRPr>
            </a:pPr>
            <a:r>
              <a:rPr sz="1650" b="1">
                <a:solidFill>
                  <a:srgbClr val="B8842A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985D80-FE95-4F94-906E-26415475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19621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2F88E3-5965-417A-A448-7F01035F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861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B2371"/>
                </a:solidFill>
              </a:defRPr>
            </a:pPr>
            <a:r>
              <a:rPr sz="1200" b="1">
                <a:solidFill>
                  <a:srgbClr val="3B2371"/>
                </a:solidFill>
              </a:rPr>
              <a:t>R2 / JSON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0BDFA7-2221-4855-8E3E-D1C15638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6313D"/>
                </a:solidFill>
              </a:defRPr>
            </a:pPr>
            <a:r>
              <a:rPr sz="938" b="0">
                <a:solidFill>
                  <a:srgbClr val="26313D"/>
                </a:solidFill>
              </a:rPr>
              <a:t>data/scholars/*.json exports → R2。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C883B2-9A05-45A3-B4B6-06EF0EA5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481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842A"/>
                </a:solidFill>
              </a:defRPr>
            </a:pPr>
            <a:r>
              <a:rPr sz="1650" b="1">
                <a:solidFill>
                  <a:srgbClr val="B8842A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CAFAF1-FA7A-4EBE-8EA6-E24A6D71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33750"/>
            <a:ext cx="19621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848746-C38F-4731-B6EE-43763F1E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4861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B2371"/>
                </a:solidFill>
              </a:defRPr>
            </a:pPr>
            <a:r>
              <a:rPr sz="1200" b="1">
                <a:solidFill>
                  <a:srgbClr val="3B2371"/>
                </a:solidFill>
              </a:rPr>
              <a:t>工作台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E49A4B-F12B-491E-9628-9F76423B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90950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6313D"/>
                </a:solidFill>
              </a:defRPr>
            </a:pPr>
            <a:r>
              <a:rPr sz="938" b="0">
                <a:solidFill>
                  <a:srgbClr val="26313D"/>
                </a:solidFill>
              </a:rPr>
              <a:t>A/B/C/D/E/Null 分级与检索。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EE6397-9453-4B2C-B4F0-13334F9D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0"/>
                </a:solidFill>
              </a:defRPr>
            </a:pPr>
            <a:r>
              <a:rPr sz="938" b="0">
                <a:solidFill>
                  <a:srgbClr val="5B6470"/>
                </a:solidFill>
              </a:rPr>
              <a:t>范围规划：苏州 → 上海 → 浙江 → 南京。信息不足归 Null；E 只代表明确不相关。</a:t>
            </a:r>
          </a:p>
        </p:txBody>
      </p:sp>
    </p:spTree>
    <p:extLst>
      <p:ext uri="{BB962C8B-B14F-4D97-AF65-F5344CB8AC3E}">
        <p14:creationId xmlns:p14="http://schemas.microsoft.com/office/powerpoint/2010/main" val="3172710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1A6A13-D06A-4B1D-A553-F0E4B4FD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A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f2c3acac44847"/>
          <a:stretch xmlns:a="http://schemas.openxmlformats.org/drawingml/2006/main"/>
        </p:blipFill>
        <p:spPr>
          <a:xfrm xmlns:a="http://schemas.openxmlformats.org/drawingml/2006/main">
            <a:off x="495300" y="3238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29067-CA77-4947-BCFE-D4526AF9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B2371"/>
                </a:solidFill>
              </a:defRPr>
            </a:pPr>
            <a:r>
              <a:rPr sz="900" b="1">
                <a:solidFill>
                  <a:srgbClr val="3B2371"/>
                </a:solidFill>
              </a:rPr>
              <a:t>VIVOID 三体生物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B6062-67B8-4462-BD6E-F1E4A861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0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0"/>
                </a:solidFill>
              </a:defRPr>
            </a:pPr>
            <a:r>
              <a:rPr sz="900" b="0">
                <a:solidFill>
                  <a:srgbClr val="5B6470"/>
                </a:solidFill>
              </a:rPr>
              <a:t>10 /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978B6-C4AF-4FCF-8595-999AD95D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F1FA7-73E7-44EE-8057-B2814954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2D9E0-7707-4DD1-9D5F-99554D6F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</a:defRPr>
            </a:pPr>
            <a:r>
              <a:rPr sz="825" b="0">
                <a:solidFill>
                  <a:srgbClr val="5B6470"/>
                </a:solidFill>
              </a:rPr>
              <a:t>闭环模板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DA712C-EABC-454A-A649-FD959E1A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470"/>
                </a:solidFill>
              </a:defRPr>
            </a:pPr>
            <a:r>
              <a:rPr sz="825" b="0">
                <a:solidFill>
                  <a:srgbClr val="5B6470"/>
                </a:solidFill>
              </a:rPr>
              <a:t>结构化 + 人工确认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EC5DF1-2538-4687-AB2B-B48D8E12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2371"/>
                </a:solidFill>
              </a:defRPr>
            </a:pPr>
            <a:r>
              <a:rPr sz="975" b="1">
                <a:solidFill>
                  <a:srgbClr val="3B2371"/>
                </a:solidFill>
              </a:rPr>
              <a:t>AI 协作贯穿始终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726A7C-6931-4CAB-93DF-C7952758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193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</a:defRPr>
            </a:pPr>
            <a:r>
              <a:rPr sz="2550" b="1">
                <a:solidFill>
                  <a:srgbClr val="18202A"/>
                </a:solidFill>
              </a:rPr>
              <a:t>不作为孤立模块，而是作为底层方法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E4FF8E-7753-4DF6-A2B9-9EA15282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289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</a:defRPr>
            </a:pPr>
            <a:r>
              <a:rPr sz="1275" b="0">
                <a:solidFill>
                  <a:srgbClr val="5B6470"/>
                </a:solidFill>
              </a:rPr>
              <a:t>AI 负责提高结构化和复用效率，关键业务判断仍保留证据链与人工确认。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7CC4C6-5629-4253-871E-6B96384F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76500"/>
            <a:ext cx="2286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862F18-FEAF-40E0-A01F-F8814AC3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289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Codex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6349E2-1F73-4DCD-8045-A4902D3C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33700"/>
            <a:ext cx="194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13D"/>
                </a:solidFill>
              </a:defRPr>
            </a:pPr>
            <a:r>
              <a:rPr sz="1013" b="0">
                <a:solidFill>
                  <a:srgbClr val="26313D"/>
                </a:solidFill>
              </a:rPr>
              <a:t>系统结构 / 字段契约 / 页面框架 / 数据流程。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AB29A9-DD9E-4497-BC7A-7ACD1AE0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286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130BC4-A511-4771-8234-D3A53912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289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GitHub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30D7C1-241A-4362-AD37-7C576E69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33700"/>
            <a:ext cx="194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13D"/>
                </a:solidFill>
              </a:defRPr>
            </a:pPr>
            <a:r>
              <a:rPr sz="1013" b="0">
                <a:solidFill>
                  <a:srgbClr val="26313D"/>
                </a:solidFill>
              </a:rPr>
              <a:t>产品线资料 / 售后记忆 / 售前线索 / raw data。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403799-F60B-467B-B2BD-10032709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71900"/>
            <a:ext cx="2286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8F8D6C-61B6-4F24-88E8-E73B0665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243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R2 / JSON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BA5526-1D44-4786-B4F5-EBE79F71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29100"/>
            <a:ext cx="194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13D"/>
                </a:solidFill>
              </a:defRPr>
            </a:pPr>
            <a:r>
              <a:rPr sz="1013" b="0">
                <a:solidFill>
                  <a:srgbClr val="26313D"/>
                </a:solidFill>
              </a:rPr>
              <a:t>结构化资料发布与系统读取。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FF5F7A-FEE1-463A-BE2B-6E7FAE0A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71900"/>
            <a:ext cx="2286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FEAF8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7DBBC1-89FE-441D-BF3A-715112A3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433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B2371"/>
                </a:solidFill>
              </a:defRPr>
            </a:pPr>
            <a:r>
              <a:rPr sz="1350" b="1">
                <a:solidFill>
                  <a:srgbClr val="3B2371"/>
                </a:solidFill>
              </a:rPr>
              <a:t>人工复核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139EEC-A22A-45CD-ADA1-707A7159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672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0"/>
                </a:solidFill>
              </a:defRPr>
            </a:pPr>
            <a:r>
              <a:rPr sz="1013" b="0">
                <a:solidFill>
                  <a:srgbClr val="5B6470"/>
                </a:solidFill>
              </a:rPr>
              <a:t>文献证据 / 客户问题 / 销售线索 / 产品宣传。</a:t>
            </a:r>
          </a:p>
        </p:txBody>
      </p:sp>
    </p:spTree>
    <p:extLst>
      <p:ext uri="{BB962C8B-B14F-4D97-AF65-F5344CB8AC3E}">
        <p14:creationId xmlns:p14="http://schemas.microsoft.com/office/powerpoint/2010/main" val="8889508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FA9BDA-B13A-430D-9921-37BE6898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A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63f92f3a82425f"/>
          <a:stretch xmlns:a="http://schemas.openxmlformats.org/drawingml/2006/main"/>
        </p:blipFill>
        <p:spPr>
          <a:xfrm xmlns:a="http://schemas.openxmlformats.org/drawingml/2006/main">
            <a:off x="495300" y="3238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F5A41A-1E3B-48BA-A905-1F0D3DFA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B2371"/>
                </a:solidFill>
              </a:defRPr>
            </a:pPr>
            <a:r>
              <a:rPr sz="900" b="1">
                <a:solidFill>
                  <a:srgbClr val="3B2371"/>
                </a:solidFill>
              </a:rPr>
              <a:t>VIVOID 三体生物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7C93F-CB1A-4BDA-83AF-95DDB38C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0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0"/>
                </a:solidFill>
              </a:defRPr>
            </a:pPr>
            <a:r>
              <a:rPr sz="900" b="0">
                <a:solidFill>
                  <a:srgbClr val="5B6470"/>
                </a:solidFill>
              </a:rPr>
              <a:t>11 / APPENDIX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2E849-BE4E-446A-8844-1C243867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A4F7F-A974-42E1-8E28-5F86BC02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04521F-7195-4320-8DB7-DDCF378B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</a:defRPr>
            </a:pPr>
            <a:r>
              <a:rPr sz="825" b="0">
                <a:solidFill>
                  <a:srgbClr val="5B6470"/>
                </a:solidFill>
              </a:rPr>
              <a:t>附录页模板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67201-7941-4E49-8773-8849DF5A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470"/>
                </a:solidFill>
              </a:defRPr>
            </a:pPr>
            <a:r>
              <a:rPr sz="825" b="0">
                <a:solidFill>
                  <a:srgbClr val="5B6470"/>
                </a:solidFill>
              </a:rPr>
              <a:t>辅助事项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DBA29B-43D3-49C2-BA3B-F34583EE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2371"/>
                </a:solidFill>
              </a:defRPr>
            </a:pPr>
            <a:r>
              <a:rPr sz="975" b="1">
                <a:solidFill>
                  <a:srgbClr val="3B2371"/>
                </a:solidFill>
              </a:rPr>
              <a:t>其他协助事项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5F7A3C-1D0C-4900-9568-3CA747DD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193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</a:defRPr>
            </a:pPr>
            <a:r>
              <a:rPr sz="2550" b="1">
                <a:solidFill>
                  <a:srgbClr val="18202A"/>
                </a:solidFill>
              </a:rPr>
              <a:t>辅助事项：记录但不冲淡主线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80C9F6-5E67-4C14-9901-4E7DB0FA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0"/>
            <a:ext cx="3238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BB74F-E1E8-4981-ABA4-9842297B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微信售后问题群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717F48-C1FD-4442-82BA-F22A49B2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13D"/>
                </a:solidFill>
              </a:defRPr>
            </a:pPr>
            <a:r>
              <a:rPr sz="1013" b="0">
                <a:solidFill>
                  <a:srgbClr val="26313D"/>
                </a:solidFill>
              </a:rPr>
              <a:t>参与部分客户问题跟进与答疑。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EE28A8-0686-41AA-BB0B-67793518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143250"/>
            <a:ext cx="3238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24B8BD-1788-42F9-854E-1DE93CA6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外部讲解会议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FCB9DB-8A7A-4B16-9D7E-9AEC9DE8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0045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13D"/>
                </a:solidFill>
              </a:defRPr>
            </a:pPr>
            <a:r>
              <a:rPr sz="1013" b="0">
                <a:solidFill>
                  <a:srgbClr val="26313D"/>
                </a:solidFill>
              </a:rPr>
              <a:t>协助回答客户产品和实验问题。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6DBE8B-CAE3-468F-82F1-CF34764A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43250"/>
            <a:ext cx="3238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65B7F4-09CB-4DBC-A8D3-C9554344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956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公众号官方账号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7C19C9-7104-44FD-862B-9597E7C3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0045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13D"/>
                </a:solidFill>
              </a:defRPr>
            </a:pPr>
            <a:r>
              <a:rPr sz="1013" b="0">
                <a:solidFill>
                  <a:srgbClr val="26313D"/>
                </a:solidFill>
              </a:rPr>
              <a:t>初步接手，熟悉账号现状、历史素材、内容方向。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EF7AD3-F107-4A07-813F-37851C29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62450"/>
            <a:ext cx="3238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A713B9-36D6-47FF-9B45-284D6B84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小红书官方账号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293FE4-4F60-414D-A82B-752E46A7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13D"/>
                </a:solidFill>
              </a:defRPr>
            </a:pPr>
            <a:r>
              <a:rPr sz="1013" b="0">
                <a:solidFill>
                  <a:srgbClr val="26313D"/>
                </a:solidFill>
              </a:rPr>
              <a:t>初步接手，熟悉定位和后续内容可能性。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E1D94E-BCAF-40A5-B915-D83F7972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362450"/>
            <a:ext cx="3238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305087-4C5D-489D-B1C4-8E53E488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5148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微信公众号排版工具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914589-0421-4D20-BE41-A9199336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81965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13D"/>
                </a:solidFill>
              </a:defRPr>
            </a:pPr>
            <a:r>
              <a:rPr sz="1013" b="0">
                <a:solidFill>
                  <a:srgbClr val="26313D"/>
                </a:solidFill>
              </a:rPr>
              <a:t>熟悉工具，为后续图文发布做准备。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4197C9-89C9-450D-9D28-25818C62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62450"/>
            <a:ext cx="3238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4C287A-B396-4593-A8D6-31A63515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148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候选人科研材料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FA5FFF-6FAB-479D-A861-72E7E704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1965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13D"/>
                </a:solidFill>
              </a:defRPr>
            </a:pPr>
            <a:r>
              <a:rPr sz="1013" b="0">
                <a:solidFill>
                  <a:srgbClr val="26313D"/>
                </a:solidFill>
              </a:rPr>
              <a:t>少量协助，简历概述、论文信息、作者身份核验。</a:t>
            </a:r>
          </a:p>
        </p:txBody>
      </p:sp>
    </p:spTree>
    <p:extLst>
      <p:ext uri="{BB962C8B-B14F-4D97-AF65-F5344CB8AC3E}">
        <p14:creationId xmlns:p14="http://schemas.microsoft.com/office/powerpoint/2010/main" val="5933550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99F314-4C48-4C2B-90E7-64D97FE1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A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79f37f4f2c4b2a"/>
          <a:stretch xmlns:a="http://schemas.openxmlformats.org/drawingml/2006/main"/>
        </p:blipFill>
        <p:spPr>
          <a:xfrm xmlns:a="http://schemas.openxmlformats.org/drawingml/2006/main">
            <a:off x="495300" y="3238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5FF89F-B9CB-4E94-91ED-5331216D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B2371"/>
                </a:solidFill>
              </a:defRPr>
            </a:pPr>
            <a:r>
              <a:rPr sz="900" b="1">
                <a:solidFill>
                  <a:srgbClr val="3B2371"/>
                </a:solidFill>
              </a:rPr>
              <a:t>VIVOID 三体生物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51FF1-2944-4BF4-A6B0-CDBE70DE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0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0"/>
                </a:solidFill>
              </a:defRPr>
            </a:pPr>
            <a:r>
              <a:rPr sz="900" b="0">
                <a:solidFill>
                  <a:srgbClr val="5B6470"/>
                </a:solidFill>
              </a:rPr>
              <a:t>12 / KPI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7DB066-2256-48AA-8B5A-583A3F67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D6A263-F6C5-4DD8-BCA1-1047C932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B200C-F5AB-4AEB-BB96-8C7212A4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</a:defRPr>
            </a:pPr>
            <a:r>
              <a:rPr sz="825" b="0">
                <a:solidFill>
                  <a:srgbClr val="5B6470"/>
                </a:solidFill>
              </a:rPr>
              <a:t>KPI / 里程碑模板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3C6908-B83C-4508-A788-FEFE9E49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470"/>
                </a:solidFill>
              </a:defRPr>
            </a:pPr>
            <a:r>
              <a:rPr sz="825" b="0">
                <a:solidFill>
                  <a:srgbClr val="5B6470"/>
                </a:solidFill>
              </a:rPr>
              <a:t>阶段性成果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0CE3B-9348-48D1-8497-5D1138F7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2371"/>
                </a:solidFill>
              </a:defRPr>
            </a:pPr>
            <a:r>
              <a:rPr sz="975" b="1">
                <a:solidFill>
                  <a:srgbClr val="3B2371"/>
                </a:solidFill>
              </a:rPr>
              <a:t>阶段性成果总结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41A625-8CB3-41F8-BD29-206659F8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193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</a:defRPr>
            </a:pPr>
            <a:r>
              <a:rPr sz="2550" b="1">
                <a:solidFill>
                  <a:srgbClr val="18202A"/>
                </a:solidFill>
              </a:rPr>
              <a:t>从个人学习走向可复用业务知识资产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1BE04-3242-4A78-BC28-1D7B83D9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05150"/>
            <a:ext cx="2571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DF7D55-F56B-4300-AB56-EB1254F8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技术理解框架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2B427F-59FC-4240-9BDF-B2658A6A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13D"/>
                </a:solidFill>
              </a:defRPr>
            </a:pPr>
            <a:r>
              <a:rPr sz="1013" b="0">
                <a:solidFill>
                  <a:srgbClr val="26313D"/>
                </a:solidFill>
              </a:rPr>
              <a:t>产品技术理解框架初步建立。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305E2-B921-471D-AE90-C9D79216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05150"/>
            <a:ext cx="2571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60C29D-90B2-4F27-9E37-E3B7D02D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575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证据边界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568A1C-A064-4302-B165-73FA34EC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62350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13D"/>
                </a:solidFill>
              </a:defRPr>
            </a:pPr>
            <a:r>
              <a:rPr sz="1013" b="0">
                <a:solidFill>
                  <a:srgbClr val="26313D"/>
                </a:solidFill>
              </a:rPr>
              <a:t>文献证据分级和客户案例边界建立。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7C052A-6C88-470B-9D5A-E2DF6967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05150"/>
            <a:ext cx="2571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8C9992-45D8-40D4-8331-95DB63EF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575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产品表达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09BA02-3610-41E5-8253-81EF6FD1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62350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13D"/>
                </a:solidFill>
              </a:defRPr>
            </a:pPr>
            <a:r>
              <a:rPr sz="1013" b="0">
                <a:solidFill>
                  <a:srgbClr val="26313D"/>
                </a:solidFill>
              </a:rPr>
              <a:t>产品线 PPT / 说明图 / 竞品对标持续推进。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1843D2-A150-4123-A475-1898CA58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05150"/>
            <a:ext cx="2571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8C457B-BB0B-47A1-AF00-E5C10AF3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575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售后知识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4E7070-E54F-4E73-9563-9D8BE928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62350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13D"/>
                </a:solidFill>
              </a:defRPr>
            </a:pPr>
            <a:r>
              <a:rPr sz="1013" b="0">
                <a:solidFill>
                  <a:srgbClr val="26313D"/>
                </a:solidFill>
              </a:rPr>
              <a:t>客户问题开始转为 FAQ / SOP 资产。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62569D-65C6-4B5B-9051-E195B30F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05300"/>
            <a:ext cx="2571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2330CB-0207-4D67-AD22-B89A81F6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售后系统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E9D499-66E8-4F78-9E29-14E3F354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13D"/>
                </a:solidFill>
              </a:defRPr>
            </a:pPr>
            <a:r>
              <a:rPr sz="1013" b="0">
                <a:solidFill>
                  <a:srgbClr val="26313D"/>
                </a:solidFill>
              </a:rPr>
              <a:t>从聊天导入升级为知识库。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68A8F7-CFBF-4B42-9859-F233317D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305300"/>
            <a:ext cx="2571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8B19AB-1089-4F46-9E1A-964C0311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4577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售前链路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AA4504-46B4-4C78-8787-76AB2988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762500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13D"/>
                </a:solidFill>
              </a:defRPr>
            </a:pPr>
            <a:r>
              <a:rPr sz="1013" b="0">
                <a:solidFill>
                  <a:srgbClr val="26313D"/>
                </a:solidFill>
              </a:rPr>
              <a:t>高校线索库形成 raw → memory → R2 → 工作台链路。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122BF1-4534-42EC-AC1C-782F386E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05300"/>
            <a:ext cx="2571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5A0C34-3EF1-48C5-B835-CF9214F8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577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AI 协作流程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18D216-9F9F-443A-8ACF-DE3685B5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62500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13D"/>
                </a:solidFill>
              </a:defRPr>
            </a:pPr>
            <a:r>
              <a:rPr sz="1013" b="0">
                <a:solidFill>
                  <a:srgbClr val="26313D"/>
                </a:solidFill>
              </a:rPr>
              <a:t>AI / GitHub / Codex 协作流程初步成型。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0018D3-B606-492B-9FAF-DD17E074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05300"/>
            <a:ext cx="2571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E88B43-82FE-48F4-8B3D-F112B5C2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4577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内容渠道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154B55-2191-4F5D-A3AB-83715A38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62500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13D"/>
                </a:solidFill>
              </a:defRPr>
            </a:pPr>
            <a:r>
              <a:rPr sz="1013" b="0">
                <a:solidFill>
                  <a:srgbClr val="26313D"/>
                </a:solidFill>
              </a:rPr>
              <a:t>官方内容渠道开始接手熟悉。</a:t>
            </a:r>
          </a:p>
        </p:txBody>
      </p:sp>
    </p:spTree>
    <p:extLst>
      <p:ext uri="{BB962C8B-B14F-4D97-AF65-F5344CB8AC3E}">
        <p14:creationId xmlns:p14="http://schemas.microsoft.com/office/powerpoint/2010/main" val="12770909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7C2B8C-6022-482A-8ACF-4D759F27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A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c730dbad264c57"/>
          <a:stretch xmlns:a="http://schemas.openxmlformats.org/drawingml/2006/main"/>
        </p:blipFill>
        <p:spPr>
          <a:xfrm xmlns:a="http://schemas.openxmlformats.org/drawingml/2006/main">
            <a:off x="495300" y="3238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FC7A3-F870-4F21-8F72-673C0471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B2371"/>
                </a:solidFill>
              </a:defRPr>
            </a:pPr>
            <a:r>
              <a:rPr sz="900" b="1">
                <a:solidFill>
                  <a:srgbClr val="3B2371"/>
                </a:solidFill>
              </a:rPr>
              <a:t>VIVOID 三体生物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B82C9-361C-4406-A0E6-0CB8843B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0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0"/>
                </a:solidFill>
              </a:defRPr>
            </a:pPr>
            <a:r>
              <a:rPr sz="900" b="0">
                <a:solidFill>
                  <a:srgbClr val="5B6470"/>
                </a:solidFill>
              </a:rPr>
              <a:t>13 / 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3994B7-61BC-473E-8371-9E0D7AF4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90327-0729-449B-AC11-77C270A9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D41A97-0463-4785-8F90-1EC89663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</a:defRPr>
            </a:pPr>
            <a:r>
              <a:rPr sz="825" b="0">
                <a:solidFill>
                  <a:srgbClr val="5B6470"/>
                </a:solidFill>
              </a:rPr>
              <a:t>表格页模板转化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691AD6-8725-4AC4-9B8F-ADDAA2B6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470"/>
                </a:solidFill>
              </a:defRPr>
            </a:pPr>
            <a:r>
              <a:rPr sz="825" b="0">
                <a:solidFill>
                  <a:srgbClr val="5B6470"/>
                </a:solidFill>
              </a:rPr>
              <a:t>问题清单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9C5D7-06D8-4E45-88FB-F37E06C9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2371"/>
                </a:solidFill>
              </a:defRPr>
            </a:pPr>
            <a:r>
              <a:rPr sz="975" b="1">
                <a:solidFill>
                  <a:srgbClr val="3B2371"/>
                </a:solidFill>
              </a:rPr>
              <a:t>当前问题与不足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7B5B5-0631-4996-9F47-3C60265B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193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</a:defRPr>
            </a:pPr>
            <a:r>
              <a:rPr sz="2550" b="1">
                <a:solidFill>
                  <a:srgbClr val="18202A"/>
                </a:solidFill>
              </a:rPr>
              <a:t>继续复核、规范、统一和优化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FF4B4B-5A00-4D1B-85C8-B2DF2D8E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0"/>
            <a:ext cx="3238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F58D4A-B2A3-45F8-B249-FA3C4275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文献资料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B180CE-2DC5-40F2-AAE7-286768AD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13D"/>
                </a:solidFill>
              </a:defRPr>
            </a:pPr>
            <a:r>
              <a:rPr sz="1013" b="0">
                <a:solidFill>
                  <a:srgbClr val="26313D"/>
                </a:solidFill>
              </a:rPr>
              <a:t>仍需继续复核和分级。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06BFFF-5F45-4460-AC15-020BCDC5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143250"/>
            <a:ext cx="3238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681CF2-3E0F-4D98-9721-F22D37AA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案例宣传边界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6CC04A-5D50-4399-932F-874A3735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0045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13D"/>
                </a:solidFill>
              </a:defRPr>
            </a:pPr>
            <a:r>
              <a:rPr sz="1013" b="0">
                <a:solidFill>
                  <a:srgbClr val="26313D"/>
                </a:solidFill>
              </a:rPr>
              <a:t>还需内部规范化。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4A44AD-FE1F-4060-B4C8-9006F86D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43250"/>
            <a:ext cx="3238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17CBD5-FB11-40BB-98D9-E8CF0146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956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产品图与 PPT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612C10-C27A-4E58-97D1-EDE597A9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0045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13D"/>
                </a:solidFill>
              </a:defRPr>
            </a:pPr>
            <a:r>
              <a:rPr sz="1013" b="0">
                <a:solidFill>
                  <a:srgbClr val="26313D"/>
                </a:solidFill>
              </a:rPr>
              <a:t>还需统一风格和结构准确性。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B77A7C-C232-4411-8E4C-5D88086A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62450"/>
            <a:ext cx="3238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844C27-32BB-4568-BF0F-09AAE97E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系统体验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F516DC-8F4A-4AA5-A64A-EB58677C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13D"/>
                </a:solidFill>
              </a:defRPr>
            </a:pPr>
            <a:r>
              <a:rPr sz="1013" b="0">
                <a:solidFill>
                  <a:srgbClr val="26313D"/>
                </a:solidFill>
              </a:rPr>
              <a:t>售后 / 售前系统仍需优化性能、权限、字段和搜索体验。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0B73BA-1F75-47A6-983F-DABC7250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362450"/>
            <a:ext cx="3238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B28259-C93C-468C-93A2-EC0E951B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5148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AI 复核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2B50CA-3CB7-411F-A311-1C081379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81965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13D"/>
                </a:solidFill>
              </a:defRPr>
            </a:pPr>
            <a:r>
              <a:rPr sz="1013" b="0">
                <a:solidFill>
                  <a:srgbClr val="26313D"/>
                </a:solidFill>
              </a:rPr>
              <a:t>AI 产出必须保留人工复核机制。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16DFA0-3A63-4E09-B86A-F5872E17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62450"/>
            <a:ext cx="3238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02E8C3-EB59-4F9C-82CA-DF160EED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148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</a:defRPr>
            </a:pPr>
            <a:r>
              <a:rPr sz="1350" b="1">
                <a:solidFill>
                  <a:srgbClr val="18202A"/>
                </a:solidFill>
              </a:rPr>
              <a:t>内容渠道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1771F0-06FB-4E4A-97DD-4CB2ABB1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1965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6313D"/>
                </a:solidFill>
              </a:defRPr>
            </a:pPr>
            <a:r>
              <a:rPr sz="1013" b="0">
                <a:solidFill>
                  <a:srgbClr val="26313D"/>
                </a:solidFill>
              </a:rPr>
              <a:t>公众号 / 小红书仍处于熟悉阶段，尚未形成发布流程。</a:t>
            </a:r>
          </a:p>
        </p:txBody>
      </p:sp>
    </p:spTree>
    <p:extLst>
      <p:ext uri="{BB962C8B-B14F-4D97-AF65-F5344CB8AC3E}">
        <p14:creationId xmlns:p14="http://schemas.microsoft.com/office/powerpoint/2010/main" val="2038327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FC67DA-4203-420A-B9FA-C2A1E927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A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f830b7df854639"/>
          <a:stretch xmlns:a="http://schemas.openxmlformats.org/drawingml/2006/main"/>
        </p:blipFill>
        <p:spPr>
          <a:xfrm xmlns:a="http://schemas.openxmlformats.org/drawingml/2006/main">
            <a:off x="495300" y="3238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694D4-F130-4AA1-878A-12459C46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B2371"/>
                </a:solidFill>
              </a:defRPr>
            </a:pPr>
            <a:r>
              <a:rPr sz="900" b="1">
                <a:solidFill>
                  <a:srgbClr val="3B2371"/>
                </a:solidFill>
              </a:rPr>
              <a:t>VIVOID 三体生物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4F1B9-DF2A-4B34-91A3-B4C2E5FC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0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0"/>
                </a:solidFill>
              </a:defRPr>
            </a:pPr>
            <a:r>
              <a:rPr sz="900" b="0">
                <a:solidFill>
                  <a:srgbClr val="5B6470"/>
                </a:solidFill>
              </a:rPr>
              <a:t>14 / PROCESS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6AFEA7-4D1D-4AA4-9457-DCDDB981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2E307-14CE-4317-A4DA-492C6DBD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6902A-4119-4AF0-A0D7-71A19F4B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</a:defRPr>
            </a:pPr>
            <a:r>
              <a:rPr sz="825" b="0">
                <a:solidFill>
                  <a:srgbClr val="5B6470"/>
                </a:solidFill>
              </a:rPr>
              <a:t>流程模板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838D6C-DADA-45FE-8B53-A3F7B9F5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470"/>
                </a:solidFill>
              </a:defRPr>
            </a:pPr>
            <a:r>
              <a:rPr sz="825" b="0">
                <a:solidFill>
                  <a:srgbClr val="5B6470"/>
                </a:solidFill>
              </a:rPr>
              <a:t>下一阶段计划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CB5CFF-0D8B-41B7-8FDA-25B57009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2371"/>
                </a:solidFill>
              </a:defRPr>
            </a:pPr>
            <a:r>
              <a:rPr sz="975" b="1">
                <a:solidFill>
                  <a:srgbClr val="3B2371"/>
                </a:solidFill>
              </a:rPr>
              <a:t>下一阶段计划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DE3F47-CC89-41BA-A49E-A7BD948C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193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</a:defRPr>
            </a:pPr>
            <a:r>
              <a:rPr sz="2550" b="1">
                <a:solidFill>
                  <a:srgbClr val="18202A"/>
                </a:solidFill>
              </a:rPr>
              <a:t>把资料、问题和线索进一步产品化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C0DA8A-8ADC-47D6-9A20-76F271D6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71850"/>
            <a:ext cx="1962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87EF7-D2A2-4BA4-B15C-3222816B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B2371"/>
                </a:solidFill>
              </a:defRPr>
            </a:pPr>
            <a:r>
              <a:rPr sz="1200" b="1">
                <a:solidFill>
                  <a:srgbClr val="3B2371"/>
                </a:solidFill>
              </a:rPr>
              <a:t>完善产品线资料库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AE050-7BEB-478A-B00A-C3F55DF2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6313D"/>
                </a:solidFill>
              </a:defRPr>
            </a:pPr>
            <a:r>
              <a:rPr sz="938" b="0">
                <a:solidFill>
                  <a:srgbClr val="26313D"/>
                </a:solidFill>
              </a:rPr>
              <a:t>统一产品表达与结构说明。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91EB14-71A8-4247-9E04-94CA3739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671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842A"/>
                </a:solidFill>
              </a:defRPr>
            </a:pPr>
            <a:r>
              <a:rPr sz="1650" b="1">
                <a:solidFill>
                  <a:srgbClr val="B8842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913CB8-1C03-42D1-B4E2-CE5380E8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71850"/>
            <a:ext cx="1962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EC84BA-93D9-4E45-AD0A-7EBAAAA8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524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B2371"/>
                </a:solidFill>
              </a:defRPr>
            </a:pPr>
            <a:r>
              <a:rPr sz="1200" b="1">
                <a:solidFill>
                  <a:srgbClr val="3B2371"/>
                </a:solidFill>
              </a:rPr>
              <a:t>建设文献证据库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5B3F97-1A67-4AF8-B929-7C3AA7F5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8290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6313D"/>
                </a:solidFill>
              </a:defRPr>
            </a:pPr>
            <a:r>
              <a:rPr sz="938" b="0">
                <a:solidFill>
                  <a:srgbClr val="26313D"/>
                </a:solidFill>
              </a:rPr>
              <a:t>证据分级、标注和引用边界。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5E6CB5-B114-4F45-BDFE-4C7ADF6C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671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842A"/>
                </a:solidFill>
              </a:defRPr>
            </a:pPr>
            <a:r>
              <a:rPr sz="1650" b="1">
                <a:solidFill>
                  <a:srgbClr val="B8842A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AA13D0-7231-44C6-8AD6-3A808226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71850"/>
            <a:ext cx="1962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EE3B5A-BA50-4DDE-9548-B04FFAF3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24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B2371"/>
                </a:solidFill>
              </a:defRPr>
            </a:pPr>
            <a:r>
              <a:rPr sz="1200" b="1">
                <a:solidFill>
                  <a:srgbClr val="3B2371"/>
                </a:solidFill>
              </a:rPr>
              <a:t>沉淀售后 FAQ / SOP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B9409C-2767-46CB-B666-87180094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290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6313D"/>
                </a:solidFill>
              </a:defRPr>
            </a:pPr>
            <a:r>
              <a:rPr sz="938" b="0">
                <a:solidFill>
                  <a:srgbClr val="26313D"/>
                </a:solidFill>
              </a:rPr>
              <a:t>标准回复与异常判断流程。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780D15-C68D-426E-9B16-A72F0429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671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842A"/>
                </a:solidFill>
              </a:defRPr>
            </a:pPr>
            <a:r>
              <a:rPr sz="1650" b="1">
                <a:solidFill>
                  <a:srgbClr val="B8842A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D0887B-1BF0-4237-8FBC-620A54E3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71850"/>
            <a:ext cx="1962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AC90DC-BAB4-43C8-89DA-8FCC65C0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24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B2371"/>
                </a:solidFill>
              </a:defRPr>
            </a:pPr>
            <a:r>
              <a:rPr sz="1200" b="1">
                <a:solidFill>
                  <a:srgbClr val="3B2371"/>
                </a:solidFill>
              </a:rPr>
              <a:t>扩展高校线索库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F93AD2-81B4-42D2-8E57-198AC5F8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290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6313D"/>
                </a:solidFill>
              </a:defRPr>
            </a:pPr>
            <a:r>
              <a:rPr sz="938" b="0">
                <a:solidFill>
                  <a:srgbClr val="26313D"/>
                </a:solidFill>
              </a:rPr>
              <a:t>继续拓展区域和拜访线索。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1F338E-34EF-41D7-81EC-381E7DC5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671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842A"/>
                </a:solidFill>
              </a:defRPr>
            </a:pPr>
            <a:r>
              <a:rPr sz="1650" b="1">
                <a:solidFill>
                  <a:srgbClr val="B8842A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481181-3A9C-48AD-9291-A1F5A2BD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71850"/>
            <a:ext cx="1962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B3EB65-16E1-4557-9C18-954B2AA3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24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B2371"/>
                </a:solidFill>
              </a:defRPr>
            </a:pPr>
            <a:r>
              <a:rPr sz="1200" b="1">
                <a:solidFill>
                  <a:srgbClr val="3B2371"/>
                </a:solidFill>
              </a:rPr>
              <a:t>固化协作流程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2C9577-2E62-469B-A936-0DAA2598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290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6313D"/>
                </a:solidFill>
              </a:defRPr>
            </a:pPr>
            <a:r>
              <a:rPr sz="938" b="0">
                <a:solidFill>
                  <a:srgbClr val="26313D"/>
                </a:solidFill>
              </a:rPr>
              <a:t>AI / Codex / GitHub / R2 流程化。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03112C-B2FE-405C-A700-42CF95D2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14900"/>
            <a:ext cx="10287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FEAF8"/>
          </a:solidFill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621D18-E781-4B9E-904F-0A09EBD7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</a:defRPr>
            </a:pPr>
            <a:r>
              <a:rPr sz="1050" b="0">
                <a:solidFill>
                  <a:srgbClr val="5B6470"/>
                </a:solidFill>
              </a:rPr>
              <a:t>同步优化售后和售前系统，逐步接手公众号、小红书内容选题与发布流程。</a:t>
            </a:r>
          </a:p>
        </p:txBody>
      </p:sp>
    </p:spTree>
    <p:extLst>
      <p:ext uri="{BB962C8B-B14F-4D97-AF65-F5344CB8AC3E}">
        <p14:creationId xmlns:p14="http://schemas.microsoft.com/office/powerpoint/2010/main" val="1597390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4D8455-21E2-4E31-AC7E-42E25954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A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7b869878204e29"/>
          <a:stretch xmlns:a="http://schemas.openxmlformats.org/drawingml/2006/main"/>
        </p:blipFill>
        <p:spPr>
          <a:xfrm xmlns:a="http://schemas.openxmlformats.org/drawingml/2006/main">
            <a:off x="495300" y="3238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425051-B83D-419C-BA03-3E67149B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B2371"/>
                </a:solidFill>
              </a:defRPr>
            </a:pPr>
            <a:r>
              <a:rPr sz="900" b="1">
                <a:solidFill>
                  <a:srgbClr val="3B2371"/>
                </a:solidFill>
              </a:rPr>
              <a:t>VIVOID 三体生物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B504D-2CB6-44BD-A879-EB7D54A3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0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0"/>
                </a:solidFill>
              </a:defRPr>
            </a:pPr>
            <a:r>
              <a:rPr sz="900" b="0">
                <a:solidFill>
                  <a:srgbClr val="5B6470"/>
                </a:solidFill>
              </a:rPr>
              <a:t>15 / QUOTE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F2CD9-9FD1-4D05-8E54-5419AC8C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A9A06A-16BA-4F3B-BCA9-C22080FE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45C2B3-FB02-4CDE-BB3F-D6E401B6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</a:defRPr>
            </a:pPr>
            <a:r>
              <a:rPr sz="825" b="0">
                <a:solidFill>
                  <a:srgbClr val="5B6470"/>
                </a:solidFill>
              </a:rPr>
              <a:t>结束页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9EA1E8-07EE-4640-9839-E7CF71B2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470"/>
                </a:solidFill>
              </a:defRPr>
            </a:pPr>
            <a:r>
              <a:rPr sz="825" b="0">
                <a:solidFill>
                  <a:srgbClr val="5B6470"/>
                </a:solidFill>
              </a:rPr>
              <a:t>CONFIDENTIAL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DE4758-D8BB-47F2-98CD-ADA0B319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2371"/>
                </a:solidFill>
              </a:defRPr>
            </a:pPr>
            <a:r>
              <a:rPr sz="975" b="1">
                <a:solidFill>
                  <a:srgbClr val="3B2371"/>
                </a:solidFill>
              </a:rPr>
              <a:t>Thank you / Q&amp;A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A3194-0619-47D6-A4EE-62E19BDE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66950"/>
            <a:ext cx="7429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</a:defRPr>
            </a:pPr>
            <a:r>
              <a:rPr sz="2550" b="1">
                <a:solidFill>
                  <a:srgbClr val="18202A"/>
                </a:solidFill>
              </a:rPr>
              <a:t>围绕三维细胞模型产品，将产品知识、文献证据、客户问题和销售线索持续沉淀为公司可复用资产。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E19B35-1B17-42E7-A534-1270BEB4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908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3B2371"/>
                </a:solidFill>
              </a:defRPr>
            </a:pPr>
            <a:r>
              <a:rPr sz="4200" b="1">
                <a:solidFill>
                  <a:srgbClr val="3B2371"/>
                </a:solidFill>
              </a:rPr>
              <a:t>谢谢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1c983e128446e5"/>
          <a:stretch xmlns:a="http://schemas.openxmlformats.org/drawingml/2006/main"/>
        </p:blipFill>
        <p:spPr>
          <a:xfrm xmlns:a="http://schemas.openxmlformats.org/drawingml/2006/main">
            <a:off x="8820150" y="3714750"/>
            <a:ext cx="609600" cy="60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2564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2026-07-06T01:20:21.1450000Z</dcterms:created>
  <dcterms:modified xsi:type="dcterms:W3CDTF">2026-07-06T01:20:21.1450000Z</dcterms:modified>
</coreProperties>
</file>